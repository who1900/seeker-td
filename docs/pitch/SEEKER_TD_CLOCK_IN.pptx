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820290389c4988" /><Relationship Type="http://schemas.openxmlformats.org/officeDocument/2006/relationships/extended-properties" Target="/docProps/app.xml" Id="Rb69400c15e984bb2" /><Relationship Type="http://schemas.openxmlformats.org/officeDocument/2006/relationships/officeDocument" Target="/ppt/presentation.xml" Id="R86f1a4c48b724cb0" /></Relationships>
</file>

<file path=ppt/presentation.xml><?xml version="1.0" encoding="utf-8"?>
<p:presentation xmlns:p="http://schemas.openxmlformats.org/presentationml/2006/main">
  <p:sldMasterIdLst>
    <p:sldMasterId xmlns:r="http://schemas.openxmlformats.org/officeDocument/2006/relationships" id="2147483648" r:id="R710b5622b8c74616"/>
  </p:sldMasterIdLst>
  <p:notesMasterIdLst>
    <p:notesMasterId xmlns:r="http://schemas.openxmlformats.org/officeDocument/2006/relationships" r:id="R066825afc1c64c2a"/>
  </p:notesMasterIdLst>
  <p:sldIdLst>
    <p:sldId xmlns:r="http://schemas.openxmlformats.org/officeDocument/2006/relationships" id="256" r:id="R06b2230142f74ebc"/>
    <p:sldId xmlns:r="http://schemas.openxmlformats.org/officeDocument/2006/relationships" id="257" r:id="Rebc7c68aaf574e3f"/>
    <p:sldId xmlns:r="http://schemas.openxmlformats.org/officeDocument/2006/relationships" id="258" r:id="R1926feb0e2b54af3"/>
    <p:sldId xmlns:r="http://schemas.openxmlformats.org/officeDocument/2006/relationships" id="259" r:id="Rc65afb543cf64dc5"/>
    <p:sldId xmlns:r="http://schemas.openxmlformats.org/officeDocument/2006/relationships" id="260" r:id="R31ae0d2ee1e24a65"/>
    <p:sldId xmlns:r="http://schemas.openxmlformats.org/officeDocument/2006/relationships" id="261" r:id="Ree100e56d94e4ce5"/>
    <p:sldId xmlns:r="http://schemas.openxmlformats.org/officeDocument/2006/relationships" id="262" r:id="R61542fc2a9094288"/>
    <p:sldId xmlns:r="http://schemas.openxmlformats.org/officeDocument/2006/relationships" id="263" r:id="R68f17d2516054088"/>
    <p:sldId xmlns:r="http://schemas.openxmlformats.org/officeDocument/2006/relationships" id="264" r:id="R73ece4b73b1749e1"/>
    <p:sldId xmlns:r="http://schemas.openxmlformats.org/officeDocument/2006/relationships" id="265" r:id="R52a86f7c3cd444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2f0bc8456a45b6" /><Relationship Type="http://schemas.openxmlformats.org/officeDocument/2006/relationships/slideMaster" Target="/ppt/slideMasters/slideMaster1.xml" Id="R710b5622b8c74616" /><Relationship Type="http://schemas.openxmlformats.org/officeDocument/2006/relationships/notesMaster" Target="/ppt/notesMasters/notesMaster1.xml" Id="R066825afc1c64c2a" /><Relationship Type="http://schemas.openxmlformats.org/officeDocument/2006/relationships/presProps" Target="/ppt/presProps.xml" Id="R99c4c83f6946447b" /><Relationship Type="http://schemas.openxmlformats.org/officeDocument/2006/relationships/tableStyles" Target="/ppt/tableStyles.xml" Id="Rc07a3434d0ba4ada" /><Relationship Type="http://schemas.openxmlformats.org/officeDocument/2006/relationships/slide" Target="/ppt/slides/slide1.xml" Id="R06b2230142f74ebc" /><Relationship Type="http://schemas.openxmlformats.org/officeDocument/2006/relationships/slide" Target="/ppt/slides/slide2.xml" Id="Rebc7c68aaf574e3f" /><Relationship Type="http://schemas.openxmlformats.org/officeDocument/2006/relationships/slide" Target="/ppt/slides/slide3.xml" Id="R1926feb0e2b54af3" /><Relationship Type="http://schemas.openxmlformats.org/officeDocument/2006/relationships/slide" Target="/ppt/slides/slide4.xml" Id="Rc65afb543cf64dc5" /><Relationship Type="http://schemas.openxmlformats.org/officeDocument/2006/relationships/slide" Target="/ppt/slides/slide5.xml" Id="R31ae0d2ee1e24a65" /><Relationship Type="http://schemas.openxmlformats.org/officeDocument/2006/relationships/slide" Target="/ppt/slides/slide6.xml" Id="Ree100e56d94e4ce5" /><Relationship Type="http://schemas.openxmlformats.org/officeDocument/2006/relationships/slide" Target="/ppt/slides/slide7.xml" Id="R61542fc2a9094288" /><Relationship Type="http://schemas.openxmlformats.org/officeDocument/2006/relationships/slide" Target="/ppt/slides/slide8.xml" Id="R68f17d2516054088" /><Relationship Type="http://schemas.openxmlformats.org/officeDocument/2006/relationships/slide" Target="/ppt/slides/slide9.xml" Id="R73ece4b73b1749e1" /><Relationship Type="http://schemas.openxmlformats.org/officeDocument/2006/relationships/slide" Target="/ppt/slides/slide10.xml" Id="R52a86f7c3cd444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dce367cb0a4a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41ded309c4759" /><Relationship Type="http://schemas.openxmlformats.org/officeDocument/2006/relationships/notesMaster" Target="/ppt/notesMasters/notesMaster1.xml" Id="Re243604d9ded44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fa721d9ae24fa1" /><Relationship Type="http://schemas.openxmlformats.org/officeDocument/2006/relationships/notesMaster" Target="/ppt/notesMasters/notesMaster1.xml" Id="Rfd2cd0e76e4c46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c697cc19734efa" /><Relationship Type="http://schemas.openxmlformats.org/officeDocument/2006/relationships/notesMaster" Target="/ppt/notesMasters/notesMaster1.xml" Id="Ra517df7fb4d649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dbfe8021054556" /><Relationship Type="http://schemas.openxmlformats.org/officeDocument/2006/relationships/notesMaster" Target="/ppt/notesMasters/notesMaster1.xml" Id="Rf0dfd507601d44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135b16cc6141e1" /><Relationship Type="http://schemas.openxmlformats.org/officeDocument/2006/relationships/notesMaster" Target="/ppt/notesMasters/notesMaster1.xml" Id="Rbc2304e7971744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8043e292be4c5e" /><Relationship Type="http://schemas.openxmlformats.org/officeDocument/2006/relationships/notesMaster" Target="/ppt/notesMasters/notesMaster1.xml" Id="Rba0f144e596140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eb7b95ab77493f" /><Relationship Type="http://schemas.openxmlformats.org/officeDocument/2006/relationships/notesMaster" Target="/ppt/notesMasters/notesMaster1.xml" Id="R5453405c190947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495d78376fb450a" /><Relationship Type="http://schemas.openxmlformats.org/officeDocument/2006/relationships/notesMaster" Target="/ppt/notesMasters/notesMaster1.xml" Id="R7b4330430d294c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a542595350046ef" /><Relationship Type="http://schemas.openxmlformats.org/officeDocument/2006/relationships/notesMaster" Target="/ppt/notesMasters/notesMaster1.xml" Id="R82637b4b539547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d90bb8e5eab49a6" /><Relationship Type="http://schemas.openxmlformats.org/officeDocument/2006/relationships/notesMaster" Target="/ppt/notesMasters/notesMaster1.xml" Id="R2640a391f8184d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SEEKER: TD, also referred to as SeekDef, is a local tower-defense prototype aimed at Solana Seeker players. The objective is simple: build a route that buys enough time for your towers to stop the waves. This deck presents current gameplay and current integration boundaries.</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C:/Users/User/Documents/work/Claude/seekdef-app/src/game/engine.ts:222-295,323-355,672-688,837-844; src/game/waveManager.ts:86-92</a:t>
            </a:r>
          </a:p>
          <a:p xmlns:a="http://schemas.openxmlformats.org/drawingml/2006/main">
            <a:r>
              <a:t>https://solanamobile.com/blog/clock-in-the-solana-mobile-hackathon</a:t>
            </a:r>
          </a:p>
          <a:p xmlns:a="http://schemas.openxmlformats.org/drawingml/2006/main">
            <a:r>
              <a:t>C:/Users/User/Documents/work/Claude/seekdef-app/public/paper-assets/runtime/branding/app_icon.png</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Place a base tower on the grid. Each valid placement can change the route enemies take from entrance to exit. The placement check rejects a fully blocked route. Longer routes buy firing time, so the player weighs path length against useful tower coverage. This screenshot shows actual Seeker gameplay, with a native crop of the app-only image.</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C:/Users/User/Documents/work/Claude/seekdef-app/src/game/engine.ts:222-295,323-355,672-688,837-844; src/game/waveManager.ts:86-92</a:t>
            </a:r>
          </a:p>
          <a:p xmlns:a="http://schemas.openxmlformats.org/drawingml/2006/main">
            <a:r>
              <a:t>../demo/device/SEEKER_TD_CLOCK_IN_Seeker_raw.mp4; 05-record-mode-full.png; 07-inspector-app.png; 10-wave2-app.png; 11-wave3-app.png; 12-resume-full.png. Actual authorized Seeker, Android 16, 2026-10-05. Debug APK SHA256 66196a2b868595048ba4fc10af645ae32b7f8d2ceb366a9a1e4a7cb35a650c35.</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a wave after arranging your defense. Towers fire automatically. Enemy kills and cleared waves add in-game gold. Enemies that reach the exit cost lives. Use gold to Enhance a tower's statistics, or Upgrade it to the next model when the budget permits. Then adapt the maze and start another wave. The screenshot shows an ordinary Practice run on a real Seeker. Device checks cleared the first three waves with 20 lives. Later play reached four of ten cleared waves and defeat in wave six, followed by a restart to wave zero, 500 gold and 20 lives. The initial raw recording ends after the first wave. Additional device screenshots and a subsequent recording cover later play.</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C:/Users/User/Documents/work/Claude/seekdef-app/src/game/engine.ts:222-295,323-355,672-688,837-844; src/game/waveManager.ts:86-92</a:t>
            </a:r>
          </a:p>
          <a:p xmlns:a="http://schemas.openxmlformats.org/drawingml/2006/main">
            <a:r>
              <a:t>C:/Users/User/Documents/work/Claude/seekdef-app/src/game/Game.tsx:648-677,760-808,2290-2293</a:t>
            </a:r>
          </a:p>
          <a:p xmlns:a="http://schemas.openxmlformats.org/drawingml/2006/main">
            <a:r>
              <a:t>../demo/device/SEEKER_TD_CLOCK_IN_Seeker_raw.mp4; 05-record-mode-full.png; 07-inspector-app.png; 10-wave2-app.png; 11-wave3-app.png; 12-resume-full.png. Actual authorized Seeker, Android 16, 2026-10-05. Debug APK SHA256 66196a2b868595048ba4fc10af645ae32b7f8d2ceb366a9a1e4a7cb35a650c35.</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shop offers four base towers. Their upgrade trees contain twelve models in total. The source roster defines eleven enemy types, including a boss. More types appear as waves progress. These are source capabilities, not a claim that every model or late-game enemy appears in the short demo.</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C:/Users/User/Documents/work/Claude/seekdef-app/src/game/data.ts:110-181; src/game/types.ts:11-12</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is free and unlimited. It supports Waves, Timed and Endless configurations. The screenshot shows actual Waves Practice setup on Seeker. The existing Ranked experience stores local results. It does not establish authenticated competition, prize eligibility or submitted cloud scores.</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C:/Users/User/Documents/work/Claude/seekdef-app/src/screens/RunSetupScreen.tsx:27-34</a:t>
            </a:r>
          </a:p>
          <a:p xmlns:a="http://schemas.openxmlformats.org/drawingml/2006/main">
            <a:r>
              <a:t>C:/Users/User/Documents/work/Claude/seekdef-app/src/state/runs.ts</a:t>
            </a:r>
          </a:p>
          <a:p xmlns:a="http://schemas.openxmlformats.org/drawingml/2006/main">
            <a:r>
              <a:t>../demo/device/SEEKER_TD_CLOCK_IN_Seeker_raw.mp4; 05-record-mode-full.png; 07-inspector-app.png; 10-wave2-app.png; 11-wave3-app.png; 12-resume-full.png. Actual authorized Seeker, Android 16, 2026-10-05. Debug APK SHA256 66196a2b868595048ba4fc10af645ae32b7f8d2ceb366a9a1e4a7cb35a650c35.</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provides tower selection, inspection and enhancement, wave control, pause and simulation speed controls. The Android project wraps the web client with Capacitor. An actual Seeker running Android 16 passed ordinary Practice placement, Enhance, pause/resume, speed controls at two and four times, and a short Home-to-app return to the same paused state. This inspector screenshot precedes the Enhance action and shows level one. Tier Upgrade and Sell are visible controls, not assertions that these actions passed physical acceptance. Audio, MWA, offline behavior, cold relaunch and long-session thermal performance remain unverified.</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C:/Users/User/Documents/work/Claude/seekdef-app/src/game/Game.tsx:648-677,760-808,2290-2293</a:t>
            </a:r>
          </a:p>
          <a:p xmlns:a="http://schemas.openxmlformats.org/drawingml/2006/main">
            <a:r>
              <a:t>C:/Users/User/Documents/work/Claude/seekdef-app/package.json; capacitor.config.ts; src/state/store.ts:183-191</a:t>
            </a:r>
          </a:p>
          <a:p xmlns:a="http://schemas.openxmlformats.org/drawingml/2006/main">
            <a:r>
              <a:t>../demo/device/SEEKER_TD_CLOCK_IN_Seeker_raw.mp4; 05-record-mode-full.png; 07-inspector-app.png; 10-wave2-app.png; 11-wave3-app.png; 12-resume-full.png. Actual authorized Seeker, Android 16, 2026-10-05. Debug APK SHA256 66196a2b868595048ba4fc10af645ae32b7f8d2ceb366a9a1e4a7cb35a650c35.</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and TypeScript own the screens and controls. Canvas renders a local simulation with pathfinding, waves and combat. Local storage persists player state. Capacitor packages the Vite dist directory into the Android app. Mobile Wallet Adapter handles a separate wallet authorization path. The local server admission and replay experiments are not connected to a deployed authoritative scoring service.</a:t>
            </a:r>
          </a:p>
          <a:p xmlns:a="http://schemas.openxmlformats.org/drawingml/2006/main">
            <a:r>
              <a:t/>
            </a:r>
          </a:p>
          <a:p xmlns:a="http://schemas.openxmlformats.org/drawingml/2006/main">
            <a:r>
              <a:t>Sources and status, checked 2026-10-05:</a:t>
            </a:r>
          </a:p>
          <a:p xmlns:a="http://schemas.openxmlformats.org/drawingml/2006/main">
            <a:r>
              <a:t>C:/Users/User/Documents/work/Claude/seekdef-app/package.json; capacitor.config.ts; src/state/store.ts:183-191</a:t>
            </a:r>
          </a:p>
          <a:p xmlns:a="http://schemas.openxmlformats.org/drawingml/2006/main">
            <a:r>
              <a:t>C:/Users/User/Documents/work/Claude/seekdef-app/src/wallet.ts:71-89</a:t>
            </a:r>
          </a:p>
          <a:p xmlns:a="http://schemas.openxmlformats.org/drawingml/2006/main">
            <a:r>
              <a:t>C:/Users/User/Documents/work/Claude/seekdef-app/server/</a:t>
            </a:r>
          </a:p>
          <a:p xmlns:a="http://schemas.openxmlformats.org/drawingml/2006/main">
            <a:r>
              <a:t>C:/Users/User/Documents/work/Claude/seekdef-app/src/game/</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implements the Android Mobile Wallet Adapter authorize path and a desktop Solana/Solflare provider fallback. The intended audience is Solana Seeker users. Combat remains local. Physical wallet acceptance and a meaningful demonstrated Solana product flow are outstanding. This presentation does not claim a completed onchain gameplay loop or CLOCK IN eligibility.</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C:/Users/User/Documents/work/Claude/seekdef-app/src/wallet.ts:71-89</a:t>
            </a:r>
          </a:p>
          <a:p xmlns:a="http://schemas.openxmlformats.org/drawingml/2006/main">
            <a:r>
              <a:t>C:/Users/User/Documents/work/Claude/seekdef-app/src/services/payments.ts:37-50</a:t>
            </a:r>
          </a:p>
          <a:p xmlns:a="http://schemas.openxmlformats.org/drawingml/2006/main">
            <a:r>
              <a:t>https://solanamobile.com/blog/clock-in-the-solana-mobile-hackathon</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local gameplay includes maze placement, waves, tower combat, gold, lives and enhancement. The source also contains prototypes for admission and replay. Payments and payouts remain disabled, and there is no funded prize pool claim. Authoritative scores, prizes and dApp Store publication remain future work. STD is a closed in-game balance, not an issued onchain token.</a:t>
            </a:r>
          </a:p>
          <a:p xmlns:a="http://schemas.openxmlformats.org/drawingml/2006/main">
            <a:r>
              <a:t/>
            </a:r>
          </a:p>
          <a:p xmlns:a="http://schemas.openxmlformats.org/drawingml/2006/main">
            <a:r>
              <a:t>Sources and status, checked 2026-10-05:</a:t>
            </a:r>
          </a:p>
          <a:p xmlns:a="http://schemas.openxmlformats.org/drawingml/2006/main">
            <a:r>
              <a:t>C:/Users/User/Documents/work/Claude/seekdef-app/src/game/engine.ts:222-295,323-355,672-688,837-844; src/game/waveManager.ts:86-92</a:t>
            </a:r>
          </a:p>
          <a:p xmlns:a="http://schemas.openxmlformats.org/drawingml/2006/main">
            <a:r>
              <a:t>C:/Users/User/Documents/work/Claude/seekdef-app/src/services/payments.ts:37-50</a:t>
            </a:r>
          </a:p>
          <a:p xmlns:a="http://schemas.openxmlformats.org/drawingml/2006/main">
            <a:r>
              <a:t>C:/Users/User/Documents/work/Claude/seekdef-app/README.md</a:t>
            </a:r>
          </a:p>
          <a:p xmlns:a="http://schemas.openxmlformats.org/drawingml/2006/main">
            <a:r>
              <a:t>C:/Users/User/Documents/work/Claude/seekdef-app/server/</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Daniyar Gabdullin is the solo founder and engineer. Prior shipping of Seeker Vault and X-Booster is founder-reported in the existing local materials. Basic Seeker gameplay checks now pass. The next milestone is a demonstrated Solana wallet flow, remaining release acceptance, and source/asset rights clearance before public distribution. Physical wallet handoff, audio, offline behavior and cold relaunch remain unverified. The official CLOCK IN blog requires APK, source GitHub, a video of the app in use and a short pitch by October 8, 2026. It does not confirm an exact closing hour.</a:t>
            </a:r>
          </a:p>
          <a:p xmlns:a="http://schemas.openxmlformats.org/drawingml/2006/main">
            <a:r>
              <a:t/>
            </a:r>
          </a:p>
          <a:p xmlns:a="http://schemas.openxmlformats.org/drawingml/2006/main">
            <a:r>
              <a:t>Sources and status, checked 2026-10-05:</a:t>
            </a:r>
          </a:p>
          <a:p xmlns:a="http://schemas.openxmlformats.org/drawingml/2006/main">
            <a:r>
              <a:t>https://solanamobile.com/blog/clock-in-the-solana-mobile-hackathon</a:t>
            </a:r>
          </a:p>
          <a:p xmlns:a="http://schemas.openxmlformats.org/drawingml/2006/main">
            <a:r>
              <a:t>../demo/device/SEEKER_TD_CLOCK_IN_Seeker_raw.mp4; 05-record-mode-full.png; 07-inspector-app.png; 10-wave2-app.png; 11-wave3-app.png; 12-resume-full.png. Actual authorized Seeker, Android 16, 2026-10-05. Debug APK SHA256 66196a2b868595048ba4fc10af645ae32b7f8d2ceb366a9a1e4a7cb35a650c35.</a:t>
            </a:r>
          </a:p>
          <a:p xmlns:a="http://schemas.openxmlformats.org/drawingml/2006/main">
            <a:r>
              <a:t>C:/Users/User/Documents/work/Claude/seekdef-app/README.md:Founder</a:t>
            </a:r>
          </a:p>
          <a:p xmlns:a="http://schemas.openxmlformats.org/drawingml/2006/main">
            <a:r>
              <a:t>https://portfolio.whoim.space</a:t>
            </a:r>
          </a:p>
          <a:p xmlns:a="http://schemas.openxmlformats.org/drawingml/2006/main">
            <a:r>
              <a:t>All game artwork comes from the existing local project. Asset redistribution rights remain a publication gate. Physical Seeker smoke checks cover ordinary Practice play, placement, Enhance, the first three cleared waves, pause/resume, speed controls and short Home-to-app resume. MWA, audio, offline behavior and cold relaunch remain unverified. No financial operations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efd68a0124345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910ac9d3964c75" /><Relationship Type="http://schemas.openxmlformats.org/officeDocument/2006/relationships/slideLayout" Target="/ppt/slideLayouts/slideLayout1.xml" Id="R0073a7cc34e848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73a7cc34e848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d91001b9cf46e0" /><Relationship Type="http://schemas.openxmlformats.org/officeDocument/2006/relationships/image" Target="/ppt/media/image.png" Id="R187a6c415de44ec1" /><Relationship Type="http://schemas.openxmlformats.org/officeDocument/2006/relationships/notesSlide" Target="/ppt/notesSlides/notesSlide1.xml" Id="R751d38e7e8064b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9f2347dfb44547" /><Relationship Type="http://schemas.openxmlformats.org/officeDocument/2006/relationships/image" Target="/ppt/media/image2.png" Id="R8ca027162cd748a3" /><Relationship Type="http://schemas.openxmlformats.org/officeDocument/2006/relationships/notesSlide" Target="/ppt/notesSlides/notesSlide2.xml" Id="Rf13be3c913f541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524cd14fef4fa2" /><Relationship Type="http://schemas.openxmlformats.org/officeDocument/2006/relationships/image" Target="/ppt/media/image3.png" Id="R42d99b79d81f4054" /><Relationship Type="http://schemas.openxmlformats.org/officeDocument/2006/relationships/notesSlide" Target="/ppt/notesSlides/notesSlide3.xml" Id="R95ea850d25a346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57cd6e19c54b30" /><Relationship Type="http://schemas.openxmlformats.org/officeDocument/2006/relationships/image" Target="/ppt/media/image4.png" Id="R73363884316345f8" /><Relationship Type="http://schemas.openxmlformats.org/officeDocument/2006/relationships/image" Target="/ppt/media/image5.png" Id="Rf04329e7c8364727" /><Relationship Type="http://schemas.openxmlformats.org/officeDocument/2006/relationships/image" Target="/ppt/media/image6.png" Id="R78a870497f7f4b63" /><Relationship Type="http://schemas.openxmlformats.org/officeDocument/2006/relationships/image" Target="/ppt/media/image7.png" Id="Rec440d9987e64544" /><Relationship Type="http://schemas.openxmlformats.org/officeDocument/2006/relationships/notesSlide" Target="/ppt/notesSlides/notesSlide4.xml" Id="R42573cccdae54d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18c479a955447d" /><Relationship Type="http://schemas.openxmlformats.org/officeDocument/2006/relationships/image" Target="/ppt/media/image8.png" Id="R4c2b1999f1194f6b" /><Relationship Type="http://schemas.openxmlformats.org/officeDocument/2006/relationships/notesSlide" Target="/ppt/notesSlides/notesSlide5.xml" Id="R4eb0fa94274e45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061495870b48a4" /><Relationship Type="http://schemas.openxmlformats.org/officeDocument/2006/relationships/image" Target="/ppt/media/image9.png" Id="R87f893a8a66141c2" /><Relationship Type="http://schemas.openxmlformats.org/officeDocument/2006/relationships/notesSlide" Target="/ppt/notesSlides/notesSlide6.xml" Id="Re57dd08f15d744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6423b0e3bc34043" /><Relationship Type="http://schemas.openxmlformats.org/officeDocument/2006/relationships/notesSlide" Target="/ppt/notesSlides/notesSlide7.xml" Id="Rd2334b0da5f346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96ccda7bb749af" /><Relationship Type="http://schemas.openxmlformats.org/officeDocument/2006/relationships/notesSlide" Target="/ppt/notesSlides/notesSlide8.xml" Id="R4bf56bb145fa42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0f32c334ec4916" /><Relationship Type="http://schemas.openxmlformats.org/officeDocument/2006/relationships/notesSlide" Target="/ppt/notesSlides/notesSlide9.xml" Id="R3d5b3abc24914e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8be6880be8847f6" /><Relationship Type="http://schemas.openxmlformats.org/officeDocument/2006/relationships/notesSlide" Target="/ppt/notesSlides/notesSlide10.xml" Id="R6f75cf4d112d4698" /></Relationships>
</file>

<file path=ppt/slides/slide1.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6" name="SEEKER: TD">
            <a:extLst xmlns:a="http://schemas.openxmlformats.org/drawingml/2006/main">
              <a:ext uri="{FF2B5EF4-FFF2-40B4-BE49-F238E27FC236}">
                <a16:creationId xmlns:a16="http://schemas.microsoft.com/office/drawing/2014/main" id="{99D8EE8C-D84F-4BA4-84E8-FF457CFE8659}"/>
              </a:ext>
            </a:extLst>
          </p:cNvPr>
          <p:cNvSpPr>
            <a:spLocks xmlns:a="http://schemas.openxmlformats.org/drawingml/2006/main" noGrp="1"/>
          </p:cNvSpPr>
          <p:nvPr/>
        </p:nvSpPr>
        <p:spPr>
          <a:xfrm xmlns:a="http://schemas.openxmlformats.org/drawingml/2006/main">
            <a:off x="609600" y="723900"/>
            <a:ext cx="638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850" b="1">
                <a:solidFill>
                  <a:srgbClr val="242824"/>
                </a:solidFill>
                <a:latin typeface="Arial"/>
                <a:ea typeface="Arial"/>
                <a:cs typeface="Arial"/>
              </a:defRPr>
            </a:pPr>
            <a:r>
              <a:rPr sz="5850" b="1">
                <a:solidFill>
                  <a:srgbClr val="242824"/>
                </a:solidFill>
                <a:latin typeface="Arial"/>
                <a:ea typeface="Arial"/>
                <a:cs typeface="Arial"/>
              </a:rPr>
              <a:t>SEEKER: TD</a:t>
            </a:r>
          </a:p>
        </p:txBody>
      </p:sp>
      <p:sp>
        <p:nvSpPr>
          <p:cNvPr id="2" name="Build a maze.&#10;Survive the waves.">
            <a:extLst xmlns:a="http://schemas.openxmlformats.org/drawingml/2006/main">
              <a:ext uri="{FF2B5EF4-FFF2-40B4-BE49-F238E27FC236}">
                <a16:creationId xmlns:a16="http://schemas.microsoft.com/office/drawing/2014/main" id="{68B2F0E3-3F93-40CE-9F2F-162B7956D0EA}"/>
              </a:ext>
            </a:extLst>
          </p:cNvPr>
          <p:cNvSpPr>
            <a:spLocks xmlns:a="http://schemas.openxmlformats.org/drawingml/2006/main" noGrp="1"/>
          </p:cNvSpPr>
          <p:nvPr/>
        </p:nvSpPr>
        <p:spPr>
          <a:xfrm xmlns:a="http://schemas.openxmlformats.org/drawingml/2006/main">
            <a:off x="609600" y="2371725"/>
            <a:ext cx="581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00" b="1">
                <a:solidFill>
                  <a:srgbClr val="B45E49"/>
                </a:solidFill>
                <a:latin typeface="Arial"/>
                <a:ea typeface="Arial"/>
                <a:cs typeface="Arial"/>
              </a:defRPr>
            </a:pPr>
            <a:r>
              <a:rPr sz="3600" b="1">
                <a:solidFill>
                  <a:srgbClr val="B45E49"/>
                </a:solidFill>
                <a:latin typeface="Arial"/>
                <a:ea typeface="Arial"/>
                <a:cs typeface="Arial"/>
              </a:rPr>
              <a:t>Build a maze.</a:t>
            </a:r>
          </a:p>
          <a:p xmlns:a="http://schemas.openxmlformats.org/drawingml/2006/main">
            <a:pPr algn="l">
              <a:defRPr sz="3600" b="1">
                <a:solidFill>
                  <a:srgbClr val="B45E49"/>
                </a:solidFill>
                <a:latin typeface="Arial"/>
                <a:ea typeface="Arial"/>
                <a:cs typeface="Arial"/>
              </a:defRPr>
            </a:pPr>
            <a:r>
              <a:rPr sz="3600" b="1">
                <a:solidFill>
                  <a:srgbClr val="B45E49"/>
                </a:solidFill>
                <a:latin typeface="Arial"/>
                <a:ea typeface="Arial"/>
                <a:cs typeface="Arial"/>
              </a:rPr>
              <a:t>Survive the waves.</a:t>
            </a:r>
          </a:p>
        </p:txBody>
      </p:sp>
      <p:sp>
        <p:nvSpPr>
          <p:cNvPr id="3" name="Tower defense for Solana Seeker">
            <a:extLst xmlns:a="http://schemas.openxmlformats.org/drawingml/2006/main">
              <a:ext uri="{FF2B5EF4-FFF2-40B4-BE49-F238E27FC236}">
                <a16:creationId xmlns:a16="http://schemas.microsoft.com/office/drawing/2014/main" id="{DFFA3E38-B2BC-4A56-9147-91CBD8506596}"/>
              </a:ext>
            </a:extLst>
          </p:cNvPr>
          <p:cNvSpPr>
            <a:spLocks xmlns:a="http://schemas.openxmlformats.org/drawingml/2006/main" noGrp="1"/>
          </p:cNvSpPr>
          <p:nvPr/>
        </p:nvSpPr>
        <p:spPr>
          <a:xfrm xmlns:a="http://schemas.openxmlformats.org/drawingml/2006/main">
            <a:off x="609600" y="4429125"/>
            <a:ext cx="590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242824"/>
                </a:solidFill>
                <a:latin typeface="Arial"/>
                <a:ea typeface="Arial"/>
                <a:cs typeface="Arial"/>
              </a:defRPr>
            </a:pPr>
            <a:r>
              <a:rPr sz="2325" b="0">
                <a:solidFill>
                  <a:srgbClr val="242824"/>
                </a:solidFill>
                <a:latin typeface="Arial"/>
                <a:ea typeface="Arial"/>
                <a:cs typeface="Arial"/>
              </a:rPr>
              <a:t>Tower defense for Solana Seeker</a:t>
            </a:r>
          </a:p>
        </p:txBody>
      </p:sp>
      <p:sp>
        <p:nvSpPr>
          <p:cNvPr id="4" name="CLOCK IN 2026&#10;Local prototype on Se">
            <a:extLst xmlns:a="http://schemas.openxmlformats.org/drawingml/2006/main">
              <a:ext uri="{FF2B5EF4-FFF2-40B4-BE49-F238E27FC236}">
                <a16:creationId xmlns:a16="http://schemas.microsoft.com/office/drawing/2014/main" id="{6F582D09-FF53-4A8A-9EA8-E9A220FC6133}"/>
              </a:ext>
            </a:extLst>
          </p:cNvPr>
          <p:cNvSpPr>
            <a:spLocks xmlns:a="http://schemas.openxmlformats.org/drawingml/2006/main" noGrp="1"/>
          </p:cNvSpPr>
          <p:nvPr/>
        </p:nvSpPr>
        <p:spPr>
          <a:xfrm xmlns:a="http://schemas.openxmlformats.org/drawingml/2006/main">
            <a:off x="609600" y="5600700"/>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657B68"/>
                </a:solidFill>
                <a:latin typeface="Arial"/>
                <a:ea typeface="Arial"/>
                <a:cs typeface="Arial"/>
              </a:defRPr>
            </a:pPr>
            <a:r>
              <a:rPr sz="1950" b="0">
                <a:solidFill>
                  <a:srgbClr val="657B68"/>
                </a:solidFill>
                <a:latin typeface="Arial"/>
                <a:ea typeface="Arial"/>
                <a:cs typeface="Arial"/>
              </a:rPr>
              <a:t>CLOCK IN 2026</a:t>
            </a:r>
          </a:p>
          <a:p xmlns:a="http://schemas.openxmlformats.org/drawingml/2006/main">
            <a:pPr algn="l">
              <a:defRPr sz="1950" b="0">
                <a:solidFill>
                  <a:srgbClr val="657B68"/>
                </a:solidFill>
                <a:latin typeface="Arial"/>
                <a:ea typeface="Arial"/>
                <a:cs typeface="Arial"/>
              </a:defRPr>
            </a:pPr>
            <a:r>
              <a:rPr sz="1950" b="0">
                <a:solidFill>
                  <a:srgbClr val="657B68"/>
                </a:solidFill>
                <a:latin typeface="Arial"/>
                <a:ea typeface="Arial"/>
                <a:cs typeface="Arial"/>
              </a:rPr>
              <a:t>Local prototype on Seeker</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87a6c415de44ec1"/>
          <a:stretch xmlns:a="http://schemas.openxmlformats.org/drawingml/2006/main"/>
        </p:blipFill>
        <p:spPr>
          <a:xfrm xmlns:a="http://schemas.openxmlformats.org/drawingml/2006/main">
            <a:off x="7334250" y="1333500"/>
            <a:ext cx="4143375" cy="4143375"/>
          </a:xfrm>
          <a:prstGeom xmlns:a="http://schemas.openxmlformats.org/drawingml/2006/main" prst="rect">
            <a:avLst/>
          </a:prstGeom>
        </p:spPr>
      </p:pic>
    </p:spTree>
    <p:extLst>
      <p:ext uri="{BB962C8B-B14F-4D97-AF65-F5344CB8AC3E}">
        <p14:creationId xmlns:p14="http://schemas.microsoft.com/office/powerpoint/2010/main" val="1646703080"/>
      </p:ext>
    </p:extLst>
  </p:cSld>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5F4EE"/>
        </a:solidFill>
      </p:bgPr>
    </p:bg>
    <p:spTree>
      <p:nvGrpSpPr>
        <p:cNvPr id="1" name=""/>
        <p:cNvGrpSpPr/>
        <p:nvPr/>
      </p:nvGrpSpPr>
      <p:grpSpPr>
        <a:xfrm/>
      </p:grpSpPr>
      <p:sp>
        <p:nvSpPr>
          <p:cNvPr id="6" name="A maze built by the player">
            <a:extLst>
              <a:ext uri="{FF2B5EF4-FFF2-40B4-BE49-F238E27FC236}">
                <a16:creationId id="{54DA3779-1189-46DD-A4B9-55ED33B13626}"/>
              </a:ext>
            </a:extLst>
          </p:cNvPr>
          <p:cNvSpPr>
            <a:spLocks noGrp="1"/>
          </p:cNvSpPr>
          <p:nvPr/>
        </p:nvSpPr>
        <p:spPr>
          <a:xfrm>
            <a:off x="609600" y="381000"/>
            <a:ext cx="10972800" cy="876300"/>
          </a:xfrm>
          <a:prstGeom prst="rect">
            <a:avLst/>
          </a:prstGeom>
          <a:noFill/>
          <a:ln w="0">
            <a:noFill/>
          </a:ln>
        </p:spPr>
        <p:txBody>
          <a:bodyPr>
            <a:noAutofit/>
          </a:bodyPr>
          <a:lstStyle/>
          <a:p>
            <a:pPr algn="l">
              <a:defRPr sz="4050" b="1">
                <a:solidFill>
                  <a:srgbClr val="242824"/>
                </a:solidFill>
                <a:latin typeface="Arial"/>
                <a:ea typeface="Arial"/>
                <a:cs typeface="Arial"/>
              </a:defRPr>
            </a:pPr>
            <a:r>
              <a:rPr sz="4050" b="1">
                <a:solidFill>
                  <a:srgbClr val="242824"/>
                </a:solidFill>
                <a:latin typeface="Arial"/>
                <a:ea typeface="Arial"/>
                <a:cs typeface="Arial"/>
              </a:rPr>
              <a:t>A maze built by the player</a:t>
            </a:r>
          </a:p>
        </p:txBody>
      </p:sp>
      <p:sp>
        <p:nvSpPr>
          <p:cNvPr id="2" name="Tower placement can&#10;reshape the rou">
            <a:extLst>
              <a:ext uri="{FF2B5EF4-FFF2-40B4-BE49-F238E27FC236}">
                <a16:creationId id="{58E4ED86-BECF-40E4-A68D-5BF3C48ED33F}"/>
              </a:ext>
            </a:extLst>
          </p:cNvPr>
          <p:cNvSpPr>
            <a:spLocks noGrp="1"/>
          </p:cNvSpPr>
          <p:nvPr/>
        </p:nvSpPr>
        <p:spPr>
          <a:xfrm>
            <a:off x="609600" y="1752600"/>
            <a:ext cx="4305300" cy="1428750"/>
          </a:xfrm>
          <a:prstGeom prst="rect">
            <a:avLst/>
          </a:prstGeom>
          <a:noFill/>
          <a:ln w="0">
            <a:noFill/>
          </a:ln>
        </p:spPr>
        <p:txBody>
          <a:bodyPr>
            <a:noAutofit/>
          </a:bodyPr>
          <a:lstStyle/>
          <a:p>
            <a:pPr algn="l">
              <a:defRPr sz="3150" b="1">
                <a:solidFill>
                  <a:srgbClr val="B45E49"/>
                </a:solidFill>
                <a:latin typeface="Arial"/>
                <a:ea typeface="Arial"/>
                <a:cs typeface="Arial"/>
              </a:defRPr>
            </a:pPr>
            <a:r>
              <a:rPr sz="3150" b="1">
                <a:solidFill>
                  <a:srgbClr val="B45E49"/>
                </a:solidFill>
                <a:latin typeface="Arial"/>
                <a:ea typeface="Arial"/>
                <a:cs typeface="Arial"/>
              </a:rPr>
              <a:t>Tower placement can</a:t>
            </a:r>
          </a:p>
          <a:p>
            <a:pPr algn="l">
              <a:defRPr sz="3150" b="1">
                <a:solidFill>
                  <a:srgbClr val="B45E49"/>
                </a:solidFill>
                <a:latin typeface="Arial"/>
                <a:ea typeface="Arial"/>
                <a:cs typeface="Arial"/>
              </a:defRPr>
            </a:pPr>
            <a:r>
              <a:rPr sz="3150" b="1">
                <a:solidFill>
                  <a:srgbClr val="B45E49"/>
                </a:solidFill>
                <a:latin typeface="Arial"/>
                <a:ea typeface="Arial"/>
                <a:cs typeface="Arial"/>
              </a:rPr>
              <a:t>reshape the route.</a:t>
            </a:r>
          </a:p>
        </p:txBody>
      </p:sp>
      <p:sp>
        <p:nvSpPr>
          <p:cNvPr id="3" name="Keep the exit reachable.&#10;Make enemi">
            <a:extLst>
              <a:ext uri="{FF2B5EF4-FFF2-40B4-BE49-F238E27FC236}">
                <a16:creationId id="{02891D89-AF93-45E4-A90A-18E9774F5215}"/>
              </a:ext>
            </a:extLst>
          </p:cNvPr>
          <p:cNvSpPr>
            <a:spLocks noGrp="1"/>
          </p:cNvSpPr>
          <p:nvPr/>
        </p:nvSpPr>
        <p:spPr>
          <a:xfrm>
            <a:off x="609600" y="3705225"/>
            <a:ext cx="4381500" cy="1600200"/>
          </a:xfrm>
          <a:prstGeom prst="rect">
            <a:avLst/>
          </a:prstGeom>
          <a:noFill/>
          <a:ln w="0">
            <a:noFill/>
          </a:ln>
        </p:spPr>
        <p:txBody>
          <a:bodyPr>
            <a:noAutofit/>
          </a:bodyPr>
          <a:lstStyle/>
          <a:p>
            <a:pPr algn="l">
              <a:defRPr sz="2250" b="0">
                <a:solidFill>
                  <a:srgbClr val="242824"/>
                </a:solidFill>
                <a:latin typeface="Arial"/>
                <a:ea typeface="Arial"/>
                <a:cs typeface="Arial"/>
              </a:defRPr>
            </a:pPr>
            <a:r>
              <a:rPr sz="2250" b="0">
                <a:solidFill>
                  <a:srgbClr val="242824"/>
                </a:solidFill>
                <a:latin typeface="Arial"/>
                <a:ea typeface="Arial"/>
                <a:cs typeface="Arial"/>
              </a:rPr>
              <a:t>Keep the exit reachable.</a:t>
            </a:r>
          </a:p>
          <a:p>
            <a:pPr algn="l">
              <a:defRPr sz="2250" b="0">
                <a:solidFill>
                  <a:srgbClr val="242824"/>
                </a:solidFill>
                <a:latin typeface="Arial"/>
                <a:ea typeface="Arial"/>
                <a:cs typeface="Arial"/>
              </a:defRPr>
            </a:pPr>
            <a:r>
              <a:rPr sz="2250" b="0">
                <a:solidFill>
                  <a:srgbClr val="242824"/>
                </a:solidFill>
                <a:latin typeface="Arial"/>
                <a:ea typeface="Arial"/>
                <a:cs typeface="Arial"/>
              </a:rPr>
              <a:t>Make enemies spend more</a:t>
            </a:r>
          </a:p>
          <a:p>
            <a:pPr algn="l">
              <a:defRPr sz="2250" b="0">
                <a:solidFill>
                  <a:srgbClr val="242824"/>
                </a:solidFill>
                <a:latin typeface="Arial"/>
                <a:ea typeface="Arial"/>
                <a:cs typeface="Arial"/>
              </a:defRPr>
            </a:pPr>
            <a:r>
              <a:rPr sz="2250" b="0">
                <a:solidFill>
                  <a:srgbClr val="242824"/>
                </a:solidFill>
                <a:latin typeface="Arial"/>
                <a:ea typeface="Arial"/>
                <a:cs typeface="Arial"/>
              </a:rPr>
              <a:t>time in tower range.</a:t>
            </a:r>
          </a:p>
        </p:txBody>
      </p:sp>
      <p:pic>
        <p:nvPicPr>
          <p:cNvPr id="9" name=""/>
          <p:cNvPicPr>
            <a:picLocks noChangeAspect="1"/>
          </p:cNvPicPr>
          <p:nvPr/>
        </p:nvPicPr>
        <p:blipFill>
          <a:blip r:embed="R8ca027162cd748a3"/>
          <a:srcRect l="0" t="0" r="0" b="63891"/>
          <a:stretch>
            <a:fillRect l="0" t="0" r="0" b="0"/>
          </a:stretch>
        </p:blipFill>
        <p:spPr>
          <a:xfrm>
            <a:off x="5200650" y="1381125"/>
            <a:ext cx="6381750" cy="4781550"/>
          </a:xfrm>
          <a:prstGeom prst="rect">
            <a:avLst/>
          </a:prstGeom>
        </p:spPr>
      </p:pic>
      <p:sp>
        <p:nvSpPr>
          <p:cNvPr id="5" name="Seeker device capture, enlarged det">
            <a:extLst>
              <a:ext uri="{FF2B5EF4-FFF2-40B4-BE49-F238E27FC236}">
                <a16:creationId id="{0A0DC2D7-E07E-451B-8899-E27F748BED71}"/>
              </a:ext>
            </a:extLst>
          </p:cNvPr>
          <p:cNvSpPr>
            <a:spLocks noGrp="1"/>
          </p:cNvSpPr>
          <p:nvPr/>
        </p:nvSpPr>
        <p:spPr>
          <a:xfrm>
            <a:off x="5200650" y="6238875"/>
            <a:ext cx="6381750" cy="295275"/>
          </a:xfrm>
          <a:prstGeom prst="rect">
            <a:avLst/>
          </a:prstGeom>
          <a:noFill/>
          <a:ln w="0">
            <a:noFill/>
          </a:ln>
        </p:spPr>
        <p:txBody>
          <a:bodyPr>
            <a:noAutofit/>
          </a:bodyPr>
          <a:lstStyle/>
          <a:p>
            <a:pPr algn="l">
              <a:defRPr sz="1575" b="0">
                <a:solidFill>
                  <a:srgbClr val="566054"/>
                </a:solidFill>
                <a:latin typeface="Arial"/>
                <a:ea typeface="Arial"/>
                <a:cs typeface="Arial"/>
              </a:defRPr>
            </a:pPr>
            <a:r>
              <a:rPr sz="1575" b="0">
                <a:solidFill>
                  <a:srgbClr val="566054"/>
                </a:solidFill>
                <a:latin typeface="Arial"/>
                <a:ea typeface="Arial"/>
                <a:cs typeface="Arial"/>
              </a:rPr>
              <a:t>Seeker device capture, enlarged detail</a:t>
            </a:r>
          </a:p>
        </p:txBody>
      </p:sp>
    </p:spTree>
    <p:extLst>
      <p:ext uri="{BB962C8B-B14F-4D97-AF65-F5344CB8AC3E}">
        <p14:creationId val="1096147916"/>
      </p:ext>
    </p:extLst>
  </p:cSld>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5F4EE"/>
        </a:solidFill>
      </p:bgPr>
    </p:bg>
    <p:spTree>
      <p:nvGrpSpPr>
        <p:cNvPr id="1" name=""/>
        <p:cNvGrpSpPr/>
        <p:nvPr/>
      </p:nvGrpSpPr>
      <p:grpSpPr>
        <a:xfrm/>
      </p:grpSpPr>
      <p:sp>
        <p:nvSpPr>
          <p:cNvPr id="9" name="The combat loop">
            <a:extLst>
              <a:ext uri="{FF2B5EF4-FFF2-40B4-BE49-F238E27FC236}">
                <a16:creationId id="{2B9616FD-9675-43D0-B282-4E06242498CB}"/>
              </a:ext>
            </a:extLst>
          </p:cNvPr>
          <p:cNvSpPr>
            <a:spLocks noGrp="1"/>
          </p:cNvSpPr>
          <p:nvPr/>
        </p:nvSpPr>
        <p:spPr>
          <a:xfrm>
            <a:off x="609600" y="381000"/>
            <a:ext cx="10972800" cy="876300"/>
          </a:xfrm>
          <a:prstGeom prst="rect">
            <a:avLst/>
          </a:prstGeom>
          <a:noFill/>
          <a:ln w="0">
            <a:noFill/>
          </a:ln>
        </p:spPr>
        <p:txBody>
          <a:bodyPr>
            <a:noAutofit/>
          </a:bodyPr>
          <a:lstStyle/>
          <a:p>
            <a:pPr algn="l">
              <a:defRPr sz="4050" b="1">
                <a:solidFill>
                  <a:srgbClr val="242824"/>
                </a:solidFill>
                <a:latin typeface="Arial"/>
                <a:ea typeface="Arial"/>
                <a:cs typeface="Arial"/>
              </a:defRPr>
            </a:pPr>
            <a:r>
              <a:rPr sz="4050" b="1">
                <a:solidFill>
                  <a:srgbClr val="242824"/>
                </a:solidFill>
                <a:latin typeface="Arial"/>
                <a:ea typeface="Arial"/>
                <a:cs typeface="Arial"/>
              </a:rPr>
              <a:t>The combat loop</a:t>
            </a:r>
          </a:p>
        </p:txBody>
      </p:sp>
      <p:sp>
        <p:nvSpPr>
          <p:cNvPr id="2" name="Build the route">
            <a:extLst>
              <a:ext uri="{FF2B5EF4-FFF2-40B4-BE49-F238E27FC236}">
                <a16:creationId id="{4FA8C4A9-508C-4C9C-99B7-A373C581A811}"/>
              </a:ext>
            </a:extLst>
          </p:cNvPr>
          <p:cNvSpPr>
            <a:spLocks noGrp="1"/>
          </p:cNvSpPr>
          <p:nvPr/>
        </p:nvSpPr>
        <p:spPr>
          <a:xfrm>
            <a:off x="609600" y="1552575"/>
            <a:ext cx="4572000" cy="666750"/>
          </a:xfrm>
          <a:prstGeom prst="rect">
            <a:avLst/>
          </a:prstGeom>
          <a:noFill/>
          <a:ln w="0">
            <a:noFill/>
          </a:ln>
        </p:spPr>
        <p:txBody>
          <a:bodyPr>
            <a:noAutofit/>
          </a:bodyPr>
          <a:lstStyle/>
          <a:p>
            <a:pPr algn="l">
              <a:defRPr sz="2625" b="1">
                <a:solidFill>
                  <a:srgbClr val="242824"/>
                </a:solidFill>
                <a:latin typeface="Arial"/>
                <a:ea typeface="Arial"/>
                <a:cs typeface="Arial"/>
              </a:defRPr>
            </a:pPr>
            <a:r>
              <a:rPr sz="2625" b="1">
                <a:solidFill>
                  <a:srgbClr val="242824"/>
                </a:solidFill>
                <a:latin typeface="Arial"/>
                <a:ea typeface="Arial"/>
                <a:cs typeface="Arial"/>
              </a:rPr>
              <a:t>Build the route</a:t>
            </a:r>
          </a:p>
        </p:txBody>
      </p:sp>
      <p:sp>
        <p:nvSpPr>
          <p:cNvPr id="3" name="Start a wave">
            <a:extLst>
              <a:ext uri="{FF2B5EF4-FFF2-40B4-BE49-F238E27FC236}">
                <a16:creationId id="{D41AF67B-634E-46DB-801C-33CEDD30AD3F}"/>
              </a:ext>
            </a:extLst>
          </p:cNvPr>
          <p:cNvSpPr>
            <a:spLocks noGrp="1"/>
          </p:cNvSpPr>
          <p:nvPr/>
        </p:nvSpPr>
        <p:spPr>
          <a:xfrm>
            <a:off x="609600" y="2495550"/>
            <a:ext cx="4572000" cy="666750"/>
          </a:xfrm>
          <a:prstGeom prst="rect">
            <a:avLst/>
          </a:prstGeom>
          <a:noFill/>
          <a:ln w="0">
            <a:noFill/>
          </a:ln>
        </p:spPr>
        <p:txBody>
          <a:bodyPr>
            <a:noAutofit/>
          </a:bodyPr>
          <a:lstStyle/>
          <a:p>
            <a:pPr algn="l">
              <a:defRPr sz="2625" b="1">
                <a:solidFill>
                  <a:srgbClr val="242824"/>
                </a:solidFill>
                <a:latin typeface="Arial"/>
                <a:ea typeface="Arial"/>
                <a:cs typeface="Arial"/>
              </a:defRPr>
            </a:pPr>
            <a:r>
              <a:rPr sz="2625" b="1">
                <a:solidFill>
                  <a:srgbClr val="242824"/>
                </a:solidFill>
                <a:latin typeface="Arial"/>
                <a:ea typeface="Arial"/>
                <a:cs typeface="Arial"/>
              </a:rPr>
              <a:t>Start a wave</a:t>
            </a:r>
          </a:p>
        </p:txBody>
      </p:sp>
      <p:sp>
        <p:nvSpPr>
          <p:cNvPr id="4" name="Earn gold in combat">
            <a:extLst>
              <a:ext uri="{FF2B5EF4-FFF2-40B4-BE49-F238E27FC236}">
                <a16:creationId id="{8AEBBEDF-8520-4EFA-B70B-D65F31E5E315}"/>
              </a:ext>
            </a:extLst>
          </p:cNvPr>
          <p:cNvSpPr>
            <a:spLocks noGrp="1"/>
          </p:cNvSpPr>
          <p:nvPr/>
        </p:nvSpPr>
        <p:spPr>
          <a:xfrm>
            <a:off x="609600" y="3438525"/>
            <a:ext cx="4572000" cy="666750"/>
          </a:xfrm>
          <a:prstGeom prst="rect">
            <a:avLst/>
          </a:prstGeom>
          <a:noFill/>
          <a:ln w="0">
            <a:noFill/>
          </a:ln>
        </p:spPr>
        <p:txBody>
          <a:bodyPr>
            <a:noAutofit/>
          </a:bodyPr>
          <a:lstStyle/>
          <a:p>
            <a:pPr algn="l">
              <a:defRPr sz="2625" b="1">
                <a:solidFill>
                  <a:srgbClr val="242824"/>
                </a:solidFill>
                <a:latin typeface="Arial"/>
                <a:ea typeface="Arial"/>
                <a:cs typeface="Arial"/>
              </a:defRPr>
            </a:pPr>
            <a:r>
              <a:rPr sz="2625" b="1">
                <a:solidFill>
                  <a:srgbClr val="242824"/>
                </a:solidFill>
                <a:latin typeface="Arial"/>
                <a:ea typeface="Arial"/>
                <a:cs typeface="Arial"/>
              </a:rPr>
              <a:t>Earn gold in combat</a:t>
            </a:r>
          </a:p>
        </p:txBody>
      </p:sp>
      <p:sp>
        <p:nvSpPr>
          <p:cNvPr id="5" name="Enhance and adapt">
            <a:extLst>
              <a:ext uri="{FF2B5EF4-FFF2-40B4-BE49-F238E27FC236}">
                <a16:creationId id="{8A1B9E73-20E5-4F27-93A6-4F13C23C12AF}"/>
              </a:ext>
            </a:extLst>
          </p:cNvPr>
          <p:cNvSpPr>
            <a:spLocks noGrp="1"/>
          </p:cNvSpPr>
          <p:nvPr/>
        </p:nvSpPr>
        <p:spPr>
          <a:xfrm>
            <a:off x="609600" y="4381500"/>
            <a:ext cx="4572000" cy="666750"/>
          </a:xfrm>
          <a:prstGeom prst="rect">
            <a:avLst/>
          </a:prstGeom>
          <a:noFill/>
          <a:ln w="0">
            <a:noFill/>
          </a:ln>
        </p:spPr>
        <p:txBody>
          <a:bodyPr>
            <a:noAutofit/>
          </a:bodyPr>
          <a:lstStyle/>
          <a:p>
            <a:pPr algn="l">
              <a:defRPr sz="2625" b="1">
                <a:solidFill>
                  <a:srgbClr val="B45E49"/>
                </a:solidFill>
                <a:latin typeface="Arial"/>
                <a:ea typeface="Arial"/>
                <a:cs typeface="Arial"/>
              </a:defRPr>
            </a:pPr>
            <a:r>
              <a:rPr sz="2625" b="1">
                <a:solidFill>
                  <a:srgbClr val="B45E49"/>
                </a:solidFill>
                <a:latin typeface="Arial"/>
                <a:ea typeface="Arial"/>
                <a:cs typeface="Arial"/>
              </a:rPr>
              <a:t>Enhance and adapt</a:t>
            </a:r>
          </a:p>
        </p:txBody>
      </p:sp>
      <p:sp>
        <p:nvSpPr>
          <p:cNvPr id="6" name="Leaks cost lives.">
            <a:extLst>
              <a:ext uri="{FF2B5EF4-FFF2-40B4-BE49-F238E27FC236}">
                <a16:creationId id="{019B747C-BE3B-4D16-B21F-2863EE04D1D3}"/>
              </a:ext>
            </a:extLst>
          </p:cNvPr>
          <p:cNvSpPr>
            <a:spLocks noGrp="1"/>
          </p:cNvSpPr>
          <p:nvPr/>
        </p:nvSpPr>
        <p:spPr>
          <a:xfrm>
            <a:off x="609600" y="5524500"/>
            <a:ext cx="4476750" cy="523875"/>
          </a:xfrm>
          <a:prstGeom prst="rect">
            <a:avLst/>
          </a:prstGeom>
          <a:noFill/>
          <a:ln w="0">
            <a:noFill/>
          </a:ln>
        </p:spPr>
        <p:txBody>
          <a:bodyPr>
            <a:noAutofit/>
          </a:bodyPr>
          <a:lstStyle/>
          <a:p>
            <a:pPr algn="l">
              <a:defRPr sz="2025" b="0">
                <a:solidFill>
                  <a:srgbClr val="566054"/>
                </a:solidFill>
                <a:latin typeface="Arial"/>
                <a:ea typeface="Arial"/>
                <a:cs typeface="Arial"/>
              </a:defRPr>
            </a:pPr>
            <a:r>
              <a:rPr sz="2025" b="0">
                <a:solidFill>
                  <a:srgbClr val="566054"/>
                </a:solidFill>
                <a:latin typeface="Arial"/>
                <a:ea typeface="Arial"/>
                <a:cs typeface="Arial"/>
              </a:rPr>
              <a:t>Leaks cost lives.</a:t>
            </a:r>
          </a:p>
        </p:txBody>
      </p:sp>
      <p:pic>
        <p:nvPicPr>
          <p:cNvPr id="15" name=""/>
          <p:cNvPicPr>
            <a:picLocks noChangeAspect="1"/>
          </p:cNvPicPr>
          <p:nvPr/>
        </p:nvPicPr>
        <p:blipFill>
          <a:blip r:embed="R42d99b79d81f4054"/>
          <a:srcRect l="0" t="0" r="0" b="63891"/>
          <a:stretch>
            <a:fillRect l="0" t="0" r="0" b="0"/>
          </a:stretch>
        </p:blipFill>
        <p:spPr>
          <a:xfrm>
            <a:off x="5200650" y="1381125"/>
            <a:ext cx="6381750" cy="4781550"/>
          </a:xfrm>
          <a:prstGeom prst="rect">
            <a:avLst/>
          </a:prstGeom>
        </p:spPr>
      </p:pic>
      <p:sp>
        <p:nvSpPr>
          <p:cNvPr id="8" name="Seeker device capture, enlarged det">
            <a:extLst>
              <a:ext uri="{FF2B5EF4-FFF2-40B4-BE49-F238E27FC236}">
                <a16:creationId id="{674A2F3E-F019-431E-8C01-A50F8AD97483}"/>
              </a:ext>
            </a:extLst>
          </p:cNvPr>
          <p:cNvSpPr>
            <a:spLocks noGrp="1"/>
          </p:cNvSpPr>
          <p:nvPr/>
        </p:nvSpPr>
        <p:spPr>
          <a:xfrm>
            <a:off x="5200650" y="6238875"/>
            <a:ext cx="6381750" cy="295275"/>
          </a:xfrm>
          <a:prstGeom prst="rect">
            <a:avLst/>
          </a:prstGeom>
          <a:noFill/>
          <a:ln w="0">
            <a:noFill/>
          </a:ln>
        </p:spPr>
        <p:txBody>
          <a:bodyPr>
            <a:noAutofit/>
          </a:bodyPr>
          <a:lstStyle/>
          <a:p>
            <a:pPr algn="l">
              <a:defRPr sz="1575" b="0">
                <a:solidFill>
                  <a:srgbClr val="566054"/>
                </a:solidFill>
                <a:latin typeface="Arial"/>
                <a:ea typeface="Arial"/>
                <a:cs typeface="Arial"/>
              </a:defRPr>
            </a:pPr>
            <a:r>
              <a:rPr sz="1575" b="0">
                <a:solidFill>
                  <a:srgbClr val="566054"/>
                </a:solidFill>
                <a:latin typeface="Arial"/>
                <a:ea typeface="Arial"/>
                <a:cs typeface="Arial"/>
              </a:rPr>
              <a:t>Seeker device capture, enlarged detail</a:t>
            </a:r>
          </a:p>
        </p:txBody>
      </p:sp>
    </p:spTree>
    <p:extLst>
      <p:ext uri="{BB962C8B-B14F-4D97-AF65-F5344CB8AC3E}">
        <p14:creationId val="514885243"/>
      </p:ext>
    </p:extLst>
  </p:cSld>
</p:sld>
</file>

<file path=ppt/slides/slide4.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5" name="Four tower families">
            <a:extLst xmlns:a="http://schemas.openxmlformats.org/drawingml/2006/main">
              <a:ext uri="{FF2B5EF4-FFF2-40B4-BE49-F238E27FC236}">
                <a16:creationId xmlns:a16="http://schemas.microsoft.com/office/drawing/2014/main" id="{53242648-4E44-4E06-9B61-657477097E17}"/>
              </a:ext>
            </a:extLst>
          </p:cNvPr>
          <p:cNvSpPr>
            <a:spLocks xmlns:a="http://schemas.openxmlformats.org/drawingml/2006/main" noGrp="1"/>
          </p:cNvSpPr>
          <p:nvPr/>
        </p:nvSpPr>
        <p:spPr>
          <a:xfrm xmlns:a="http://schemas.openxmlformats.org/drawingml/2006/main">
            <a:off x="609600" y="381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42824"/>
                </a:solidFill>
                <a:latin typeface="Arial"/>
                <a:ea typeface="Arial"/>
                <a:cs typeface="Arial"/>
              </a:defRPr>
            </a:pPr>
            <a:r>
              <a:rPr sz="4050" b="1">
                <a:solidFill>
                  <a:srgbClr val="242824"/>
                </a:solidFill>
                <a:latin typeface="Arial"/>
                <a:ea typeface="Arial"/>
                <a:cs typeface="Arial"/>
              </a:rPr>
              <a:t>Four tower families</a:t>
            </a:r>
          </a:p>
        </p:txBody>
      </p:sp>
      <p:sp>
        <p:nvSpPr>
          <p:cNvPr id="2" name="12 models across four upgrade trees">
            <a:extLst xmlns:a="http://schemas.openxmlformats.org/drawingml/2006/main">
              <a:ext uri="{FF2B5EF4-FFF2-40B4-BE49-F238E27FC236}">
                <a16:creationId xmlns:a16="http://schemas.microsoft.com/office/drawing/2014/main" id="{B7D97E66-AD52-4D77-802F-FD3FEE017719}"/>
              </a:ext>
            </a:extLst>
          </p:cNvPr>
          <p:cNvSpPr>
            <a:spLocks xmlns:a="http://schemas.openxmlformats.org/drawingml/2006/main" noGrp="1"/>
          </p:cNvSpPr>
          <p:nvPr/>
        </p:nvSpPr>
        <p:spPr>
          <a:xfrm xmlns:a="http://schemas.openxmlformats.org/drawingml/2006/main">
            <a:off x="609600" y="13811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B45E49"/>
                </a:solidFill>
                <a:latin typeface="Arial"/>
                <a:ea typeface="Arial"/>
                <a:cs typeface="Arial"/>
              </a:defRPr>
            </a:pPr>
            <a:r>
              <a:rPr sz="2550" b="0">
                <a:solidFill>
                  <a:srgbClr val="B45E49"/>
                </a:solidFill>
                <a:latin typeface="Arial"/>
                <a:ea typeface="Arial"/>
                <a:cs typeface="Arial"/>
              </a:rPr>
              <a:t>12 models across four upgrade trees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3363884316345f8"/>
          <a:stretch xmlns:a="http://schemas.openxmlformats.org/drawingml/2006/main"/>
        </p:blipFill>
        <p:spPr>
          <a:xfrm xmlns:a="http://schemas.openxmlformats.org/drawingml/2006/main">
            <a:off x="971550" y="2247900"/>
            <a:ext cx="2000250" cy="2000250"/>
          </a:xfrm>
          <a:prstGeom xmlns:a="http://schemas.openxmlformats.org/drawingml/2006/main" prst="rect">
            <a:avLst/>
          </a:prstGeom>
        </p:spPr>
      </p:pic>
      <p:sp>
        <p:nvSpPr>
          <p:cNvPr id="4" name="Bullet">
            <a:extLst xmlns:a="http://schemas.openxmlformats.org/drawingml/2006/main">
              <a:ext uri="{FF2B5EF4-FFF2-40B4-BE49-F238E27FC236}">
                <a16:creationId xmlns:a16="http://schemas.microsoft.com/office/drawing/2014/main" id="{CE5AB0E7-E137-4FFF-9D68-901020C67398}"/>
              </a:ext>
            </a:extLst>
          </p:cNvPr>
          <p:cNvSpPr>
            <a:spLocks xmlns:a="http://schemas.openxmlformats.org/drawingml/2006/main" noGrp="1"/>
          </p:cNvSpPr>
          <p:nvPr/>
        </p:nvSpPr>
        <p:spPr>
          <a:xfrm xmlns:a="http://schemas.openxmlformats.org/drawingml/2006/main">
            <a:off x="609600" y="4400550"/>
            <a:ext cx="2628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657B68"/>
                </a:solidFill>
                <a:latin typeface="Arial"/>
                <a:ea typeface="Arial"/>
                <a:cs typeface="Arial"/>
              </a:defRPr>
            </a:pPr>
            <a:r>
              <a:rPr sz="2325" b="1">
                <a:solidFill>
                  <a:srgbClr val="657B68"/>
                </a:solidFill>
                <a:latin typeface="Arial"/>
                <a:ea typeface="Arial"/>
                <a:cs typeface="Arial"/>
              </a:rPr>
              <a:t>Bullet</a:t>
            </a:r>
          </a:p>
        </p:txBody>
      </p:sp>
      <p:sp>
        <p:nvSpPr>
          <p:cNvPr id="5" name="Canon&#10;Dual Canon&#10;Machine Gun">
            <a:extLst xmlns:a="http://schemas.openxmlformats.org/drawingml/2006/main">
              <a:ext uri="{FF2B5EF4-FFF2-40B4-BE49-F238E27FC236}">
                <a16:creationId xmlns:a16="http://schemas.microsoft.com/office/drawing/2014/main" id="{FE20000E-7B93-40B1-A495-FCCBECE188FD}"/>
              </a:ext>
            </a:extLst>
          </p:cNvPr>
          <p:cNvSpPr>
            <a:spLocks xmlns:a="http://schemas.openxmlformats.org/drawingml/2006/main" noGrp="1"/>
          </p:cNvSpPr>
          <p:nvPr/>
        </p:nvSpPr>
        <p:spPr>
          <a:xfrm xmlns:a="http://schemas.openxmlformats.org/drawingml/2006/main">
            <a:off x="609600" y="5038725"/>
            <a:ext cx="26289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Canon</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Dual Canon</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Machine Gun</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04329e7c8364727"/>
          <a:stretch xmlns:a="http://schemas.openxmlformats.org/drawingml/2006/main"/>
        </p:blipFill>
        <p:spPr>
          <a:xfrm xmlns:a="http://schemas.openxmlformats.org/drawingml/2006/main">
            <a:off x="3752850" y="2247900"/>
            <a:ext cx="2000250" cy="2000250"/>
          </a:xfrm>
          <a:prstGeom xmlns:a="http://schemas.openxmlformats.org/drawingml/2006/main" prst="rect">
            <a:avLst/>
          </a:prstGeom>
        </p:spPr>
      </p:pic>
      <p:sp>
        <p:nvSpPr>
          <p:cNvPr id="7" name="Laser">
            <a:extLst xmlns:a="http://schemas.openxmlformats.org/drawingml/2006/main">
              <a:ext uri="{FF2B5EF4-FFF2-40B4-BE49-F238E27FC236}">
                <a16:creationId xmlns:a16="http://schemas.microsoft.com/office/drawing/2014/main" id="{6DF2351D-1A49-46A6-926E-E9CF96089439}"/>
              </a:ext>
            </a:extLst>
          </p:cNvPr>
          <p:cNvSpPr>
            <a:spLocks xmlns:a="http://schemas.openxmlformats.org/drawingml/2006/main" noGrp="1"/>
          </p:cNvSpPr>
          <p:nvPr/>
        </p:nvSpPr>
        <p:spPr>
          <a:xfrm xmlns:a="http://schemas.openxmlformats.org/drawingml/2006/main">
            <a:off x="3390900" y="4400550"/>
            <a:ext cx="2628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657B68"/>
                </a:solidFill>
                <a:latin typeface="Arial"/>
                <a:ea typeface="Arial"/>
                <a:cs typeface="Arial"/>
              </a:defRPr>
            </a:pPr>
            <a:r>
              <a:rPr sz="2325" b="1">
                <a:solidFill>
                  <a:srgbClr val="657B68"/>
                </a:solidFill>
                <a:latin typeface="Arial"/>
                <a:ea typeface="Arial"/>
                <a:cs typeface="Arial"/>
              </a:rPr>
              <a:t>Laser</a:t>
            </a:r>
          </a:p>
        </p:txBody>
      </p:sp>
      <p:sp>
        <p:nvSpPr>
          <p:cNvPr id="8" name="Simple Laser&#10;Bouncing Laser&#10;Straigh">
            <a:extLst xmlns:a="http://schemas.openxmlformats.org/drawingml/2006/main">
              <a:ext uri="{FF2B5EF4-FFF2-40B4-BE49-F238E27FC236}">
                <a16:creationId xmlns:a16="http://schemas.microsoft.com/office/drawing/2014/main" id="{66503ADA-E729-4BDC-9032-869C54608500}"/>
              </a:ext>
            </a:extLst>
          </p:cNvPr>
          <p:cNvSpPr>
            <a:spLocks xmlns:a="http://schemas.openxmlformats.org/drawingml/2006/main" noGrp="1"/>
          </p:cNvSpPr>
          <p:nvPr/>
        </p:nvSpPr>
        <p:spPr>
          <a:xfrm xmlns:a="http://schemas.openxmlformats.org/drawingml/2006/main">
            <a:off x="3390900" y="5038725"/>
            <a:ext cx="26289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Simple Laser</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Bouncing Laser</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Straight Laser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8a870497f7f4b63"/>
          <a:stretch xmlns:a="http://schemas.openxmlformats.org/drawingml/2006/main"/>
        </p:blipFill>
        <p:spPr>
          <a:xfrm xmlns:a="http://schemas.openxmlformats.org/drawingml/2006/main">
            <a:off x="6534150" y="2247900"/>
            <a:ext cx="2000250" cy="2000250"/>
          </a:xfrm>
          <a:prstGeom xmlns:a="http://schemas.openxmlformats.org/drawingml/2006/main" prst="rect">
            <a:avLst/>
          </a:prstGeom>
        </p:spPr>
      </p:pic>
      <p:sp>
        <p:nvSpPr>
          <p:cNvPr id="10" name="Explosive">
            <a:extLst xmlns:a="http://schemas.openxmlformats.org/drawingml/2006/main">
              <a:ext uri="{FF2B5EF4-FFF2-40B4-BE49-F238E27FC236}">
                <a16:creationId xmlns:a16="http://schemas.microsoft.com/office/drawing/2014/main" id="{62360C91-2777-4F96-8BA2-E30C81A07F5F}"/>
              </a:ext>
            </a:extLst>
          </p:cNvPr>
          <p:cNvSpPr>
            <a:spLocks xmlns:a="http://schemas.openxmlformats.org/drawingml/2006/main" noGrp="1"/>
          </p:cNvSpPr>
          <p:nvPr/>
        </p:nvSpPr>
        <p:spPr>
          <a:xfrm xmlns:a="http://schemas.openxmlformats.org/drawingml/2006/main">
            <a:off x="6172200" y="4400550"/>
            <a:ext cx="2628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657B68"/>
                </a:solidFill>
                <a:latin typeface="Arial"/>
                <a:ea typeface="Arial"/>
                <a:cs typeface="Arial"/>
              </a:defRPr>
            </a:pPr>
            <a:r>
              <a:rPr sz="2325" b="1">
                <a:solidFill>
                  <a:srgbClr val="657B68"/>
                </a:solidFill>
                <a:latin typeface="Arial"/>
                <a:ea typeface="Arial"/>
                <a:cs typeface="Arial"/>
              </a:rPr>
              <a:t>Explosive</a:t>
            </a:r>
          </a:p>
        </p:txBody>
      </p:sp>
      <p:sp>
        <p:nvSpPr>
          <p:cNvPr id="11" name="Mortar&#10;Mine Layer&#10;Rocket Launcher">
            <a:extLst xmlns:a="http://schemas.openxmlformats.org/drawingml/2006/main">
              <a:ext uri="{FF2B5EF4-FFF2-40B4-BE49-F238E27FC236}">
                <a16:creationId xmlns:a16="http://schemas.microsoft.com/office/drawing/2014/main" id="{65A37A26-EF8D-4BD6-ADCF-7BEBA09F29C4}"/>
              </a:ext>
            </a:extLst>
          </p:cNvPr>
          <p:cNvSpPr>
            <a:spLocks xmlns:a="http://schemas.openxmlformats.org/drawingml/2006/main" noGrp="1"/>
          </p:cNvSpPr>
          <p:nvPr/>
        </p:nvSpPr>
        <p:spPr>
          <a:xfrm xmlns:a="http://schemas.openxmlformats.org/drawingml/2006/main">
            <a:off x="6172200" y="5038725"/>
            <a:ext cx="26289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Mortar</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Mine Layer</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Rocket Launcher</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c440d9987e64544"/>
          <a:stretch xmlns:a="http://schemas.openxmlformats.org/drawingml/2006/main"/>
        </p:blipFill>
        <p:spPr>
          <a:xfrm xmlns:a="http://schemas.openxmlformats.org/drawingml/2006/main">
            <a:off x="9315450" y="2247900"/>
            <a:ext cx="2000250" cy="2000250"/>
          </a:xfrm>
          <a:prstGeom xmlns:a="http://schemas.openxmlformats.org/drawingml/2006/main" prst="rect">
            <a:avLst/>
          </a:prstGeom>
        </p:spPr>
      </p:pic>
      <p:sp>
        <p:nvSpPr>
          <p:cNvPr id="13" name="Control">
            <a:extLst xmlns:a="http://schemas.openxmlformats.org/drawingml/2006/main">
              <a:ext uri="{FF2B5EF4-FFF2-40B4-BE49-F238E27FC236}">
                <a16:creationId xmlns:a16="http://schemas.microsoft.com/office/drawing/2014/main" id="{2116FC04-C452-402E-81FF-F29E0B651454}"/>
              </a:ext>
            </a:extLst>
          </p:cNvPr>
          <p:cNvSpPr>
            <a:spLocks xmlns:a="http://schemas.openxmlformats.org/drawingml/2006/main" noGrp="1"/>
          </p:cNvSpPr>
          <p:nvPr/>
        </p:nvSpPr>
        <p:spPr>
          <a:xfrm xmlns:a="http://schemas.openxmlformats.org/drawingml/2006/main">
            <a:off x="8953500" y="4400550"/>
            <a:ext cx="2628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657B68"/>
                </a:solidFill>
                <a:latin typeface="Arial"/>
                <a:ea typeface="Arial"/>
                <a:cs typeface="Arial"/>
              </a:defRPr>
            </a:pPr>
            <a:r>
              <a:rPr sz="2325" b="1">
                <a:solidFill>
                  <a:srgbClr val="657B68"/>
                </a:solidFill>
                <a:latin typeface="Arial"/>
                <a:ea typeface="Arial"/>
                <a:cs typeface="Arial"/>
              </a:rPr>
              <a:t>Control</a:t>
            </a:r>
          </a:p>
        </p:txBody>
      </p:sp>
      <p:sp>
        <p:nvSpPr>
          <p:cNvPr id="14" name="Glue Tower&#10;Glue Gun&#10;Teleporter">
            <a:extLst xmlns:a="http://schemas.openxmlformats.org/drawingml/2006/main">
              <a:ext uri="{FF2B5EF4-FFF2-40B4-BE49-F238E27FC236}">
                <a16:creationId xmlns:a16="http://schemas.microsoft.com/office/drawing/2014/main" id="{34D93ADB-60AF-4EEF-8EB5-75410EC3DA39}"/>
              </a:ext>
            </a:extLst>
          </p:cNvPr>
          <p:cNvSpPr>
            <a:spLocks xmlns:a="http://schemas.openxmlformats.org/drawingml/2006/main" noGrp="1"/>
          </p:cNvSpPr>
          <p:nvPr/>
        </p:nvSpPr>
        <p:spPr>
          <a:xfrm xmlns:a="http://schemas.openxmlformats.org/drawingml/2006/main">
            <a:off x="8953500" y="5038725"/>
            <a:ext cx="26289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Glue Tower</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Glue Gun</a:t>
            </a:r>
          </a:p>
          <a:p xmlns:a="http://schemas.openxmlformats.org/drawingml/2006/main">
            <a:pPr algn="l">
              <a:defRPr sz="1875" b="0">
                <a:solidFill>
                  <a:srgbClr val="242824"/>
                </a:solidFill>
                <a:latin typeface="Arial"/>
                <a:ea typeface="Arial"/>
                <a:cs typeface="Arial"/>
              </a:defRPr>
            </a:pPr>
            <a:r>
              <a:rPr sz="1875" b="0">
                <a:solidFill>
                  <a:srgbClr val="242824"/>
                </a:solidFill>
                <a:latin typeface="Arial"/>
                <a:ea typeface="Arial"/>
                <a:cs typeface="Arial"/>
              </a:rPr>
              <a:t>Teleporter</a:t>
            </a:r>
          </a:p>
        </p:txBody>
      </p:sp>
    </p:spTree>
    <p:extLst>
      <p:ext uri="{BB962C8B-B14F-4D97-AF65-F5344CB8AC3E}">
        <p14:creationId xmlns:p14="http://schemas.microsoft.com/office/powerpoint/2010/main" val="1728270960"/>
      </p:ext>
    </p:extLst>
  </p:cSld>
</p:sld>
</file>

<file path=ppt/slides/slide5.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7" name="Practice and run modes">
            <a:extLst xmlns:a="http://schemas.openxmlformats.org/drawingml/2006/main">
              <a:ext uri="{FF2B5EF4-FFF2-40B4-BE49-F238E27FC236}">
                <a16:creationId xmlns:a16="http://schemas.microsoft.com/office/drawing/2014/main" id="{39D38C57-836A-47C1-8305-A7E1899D82E9}"/>
              </a:ext>
            </a:extLst>
          </p:cNvPr>
          <p:cNvSpPr>
            <a:spLocks xmlns:a="http://schemas.openxmlformats.org/drawingml/2006/main" noGrp="1"/>
          </p:cNvSpPr>
          <p:nvPr/>
        </p:nvSpPr>
        <p:spPr>
          <a:xfrm xmlns:a="http://schemas.openxmlformats.org/drawingml/2006/main">
            <a:off x="609600" y="381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42824"/>
                </a:solidFill>
                <a:latin typeface="Arial"/>
                <a:ea typeface="Arial"/>
                <a:cs typeface="Arial"/>
              </a:defRPr>
            </a:pPr>
            <a:r>
              <a:rPr sz="4050" b="1">
                <a:solidFill>
                  <a:srgbClr val="242824"/>
                </a:solidFill>
                <a:latin typeface="Arial"/>
                <a:ea typeface="Arial"/>
                <a:cs typeface="Arial"/>
              </a:rPr>
              <a:t>Practice and run modes</a:t>
            </a:r>
          </a:p>
        </p:txBody>
      </p:sp>
      <p:sp>
        <p:nvSpPr>
          <p:cNvPr id="2" name="Free, unlimited practice">
            <a:extLst xmlns:a="http://schemas.openxmlformats.org/drawingml/2006/main">
              <a:ext uri="{FF2B5EF4-FFF2-40B4-BE49-F238E27FC236}">
                <a16:creationId xmlns:a16="http://schemas.microsoft.com/office/drawing/2014/main" id="{5AEFA1B0-80D0-4327-ABAE-7F7F825B07FD}"/>
              </a:ext>
            </a:extLst>
          </p:cNvPr>
          <p:cNvSpPr>
            <a:spLocks xmlns:a="http://schemas.openxmlformats.org/drawingml/2006/main" noGrp="1"/>
          </p:cNvSpPr>
          <p:nvPr/>
        </p:nvSpPr>
        <p:spPr>
          <a:xfrm xmlns:a="http://schemas.openxmlformats.org/drawingml/2006/main">
            <a:off x="609600" y="1524000"/>
            <a:ext cx="695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B45E49"/>
                </a:solidFill>
                <a:latin typeface="Arial"/>
                <a:ea typeface="Arial"/>
                <a:cs typeface="Arial"/>
              </a:defRPr>
            </a:pPr>
            <a:r>
              <a:rPr sz="3300" b="1">
                <a:solidFill>
                  <a:srgbClr val="B45E49"/>
                </a:solidFill>
                <a:latin typeface="Arial"/>
                <a:ea typeface="Arial"/>
                <a:cs typeface="Arial"/>
              </a:rPr>
              <a:t>Free, unlimited practice</a:t>
            </a:r>
          </a:p>
        </p:txBody>
      </p:sp>
      <p:sp>
        <p:nvSpPr>
          <p:cNvPr id="3" name="Waves&#10;Timed&#10;Endless">
            <a:extLst xmlns:a="http://schemas.openxmlformats.org/drawingml/2006/main">
              <a:ext uri="{FF2B5EF4-FFF2-40B4-BE49-F238E27FC236}">
                <a16:creationId xmlns:a16="http://schemas.microsoft.com/office/drawing/2014/main" id="{447378A3-D5C8-4313-A489-7ED40C39D7F6}"/>
              </a:ext>
            </a:extLst>
          </p:cNvPr>
          <p:cNvSpPr>
            <a:spLocks xmlns:a="http://schemas.openxmlformats.org/drawingml/2006/main" noGrp="1"/>
          </p:cNvSpPr>
          <p:nvPr/>
        </p:nvSpPr>
        <p:spPr>
          <a:xfrm xmlns:a="http://schemas.openxmlformats.org/drawingml/2006/main">
            <a:off x="609600" y="2752725"/>
            <a:ext cx="409575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242824"/>
                </a:solidFill>
                <a:latin typeface="Arial"/>
                <a:ea typeface="Arial"/>
                <a:cs typeface="Arial"/>
              </a:defRPr>
            </a:pPr>
            <a:r>
              <a:rPr sz="3225" b="1">
                <a:solidFill>
                  <a:srgbClr val="242824"/>
                </a:solidFill>
                <a:latin typeface="Arial"/>
                <a:ea typeface="Arial"/>
                <a:cs typeface="Arial"/>
              </a:rPr>
              <a:t>Waves</a:t>
            </a:r>
          </a:p>
          <a:p xmlns:a="http://schemas.openxmlformats.org/drawingml/2006/main">
            <a:pPr algn="l">
              <a:defRPr sz="3225" b="1">
                <a:solidFill>
                  <a:srgbClr val="242824"/>
                </a:solidFill>
                <a:latin typeface="Arial"/>
                <a:ea typeface="Arial"/>
                <a:cs typeface="Arial"/>
              </a:defRPr>
            </a:pPr>
            <a:r>
              <a:rPr sz="3225" b="1">
                <a:solidFill>
                  <a:srgbClr val="242824"/>
                </a:solidFill>
                <a:latin typeface="Arial"/>
                <a:ea typeface="Arial"/>
                <a:cs typeface="Arial"/>
              </a:rPr>
              <a:t>Timed</a:t>
            </a:r>
          </a:p>
          <a:p xmlns:a="http://schemas.openxmlformats.org/drawingml/2006/main">
            <a:pPr algn="l">
              <a:defRPr sz="3225" b="1">
                <a:solidFill>
                  <a:srgbClr val="242824"/>
                </a:solidFill>
                <a:latin typeface="Arial"/>
                <a:ea typeface="Arial"/>
                <a:cs typeface="Arial"/>
              </a:defRPr>
            </a:pPr>
            <a:r>
              <a:rPr sz="3225" b="1">
                <a:solidFill>
                  <a:srgbClr val="242824"/>
                </a:solidFill>
                <a:latin typeface="Arial"/>
                <a:ea typeface="Arial"/>
                <a:cs typeface="Arial"/>
              </a:rPr>
              <a:t>Endless</a:t>
            </a:r>
          </a:p>
        </p:txBody>
      </p:sp>
      <p:sp>
        <p:nvSpPr>
          <p:cNvPr id="4" name="Ranked results remain local.&#10;They d">
            <a:extLst xmlns:a="http://schemas.openxmlformats.org/drawingml/2006/main">
              <a:ext uri="{FF2B5EF4-FFF2-40B4-BE49-F238E27FC236}">
                <a16:creationId xmlns:a16="http://schemas.microsoft.com/office/drawing/2014/main" id="{0DD11F1E-9971-4C04-B2C8-45B1BB55958B}"/>
              </a:ext>
            </a:extLst>
          </p:cNvPr>
          <p:cNvSpPr>
            <a:spLocks xmlns:a="http://schemas.openxmlformats.org/drawingml/2006/main" noGrp="1"/>
          </p:cNvSpPr>
          <p:nvPr/>
        </p:nvSpPr>
        <p:spPr>
          <a:xfrm xmlns:a="http://schemas.openxmlformats.org/drawingml/2006/main">
            <a:off x="609600" y="5562600"/>
            <a:ext cx="714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566054"/>
                </a:solidFill>
                <a:latin typeface="Arial"/>
                <a:ea typeface="Arial"/>
                <a:cs typeface="Arial"/>
              </a:defRPr>
            </a:pPr>
            <a:r>
              <a:rPr sz="1950" b="0">
                <a:solidFill>
                  <a:srgbClr val="566054"/>
                </a:solidFill>
                <a:latin typeface="Arial"/>
                <a:ea typeface="Arial"/>
                <a:cs typeface="Arial"/>
              </a:rPr>
              <a:t>Ranked results remain local.</a:t>
            </a:r>
          </a:p>
          <a:p xmlns:a="http://schemas.openxmlformats.org/drawingml/2006/main">
            <a:pPr algn="l">
              <a:defRPr sz="1950" b="0">
                <a:solidFill>
                  <a:srgbClr val="566054"/>
                </a:solidFill>
                <a:latin typeface="Arial"/>
                <a:ea typeface="Arial"/>
                <a:cs typeface="Arial"/>
              </a:defRPr>
            </a:pPr>
            <a:r>
              <a:rPr sz="1950" b="0">
                <a:solidFill>
                  <a:srgbClr val="566054"/>
                </a:solidFill>
                <a:latin typeface="Arial"/>
                <a:ea typeface="Arial"/>
                <a:cs typeface="Arial"/>
              </a:rPr>
              <a:t>They do not qualify for prizes.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c2b1999f1194f6b"/>
          <a:stretch xmlns:a="http://schemas.openxmlformats.org/drawingml/2006/main"/>
        </p:blipFill>
        <p:spPr>
          <a:xfrm xmlns:a="http://schemas.openxmlformats.org/drawingml/2006/main">
            <a:off x="8639603" y="1352550"/>
            <a:ext cx="2208944" cy="4914900"/>
          </a:xfrm>
          <a:prstGeom xmlns:a="http://schemas.openxmlformats.org/drawingml/2006/main" prst="rect">
            <a:avLst/>
          </a:prstGeom>
        </p:spPr>
      </p:pic>
      <p:sp>
        <p:nvSpPr>
          <p:cNvPr id="6" name="Seeker device capture">
            <a:extLst xmlns:a="http://schemas.openxmlformats.org/drawingml/2006/main">
              <a:ext uri="{FF2B5EF4-FFF2-40B4-BE49-F238E27FC236}">
                <a16:creationId xmlns:a16="http://schemas.microsoft.com/office/drawing/2014/main" id="{DB5E2E37-FF53-45B8-A7AC-BEF3FDC368B4}"/>
              </a:ext>
            </a:extLst>
          </p:cNvPr>
          <p:cNvSpPr>
            <a:spLocks xmlns:a="http://schemas.openxmlformats.org/drawingml/2006/main" noGrp="1"/>
          </p:cNvSpPr>
          <p:nvPr/>
        </p:nvSpPr>
        <p:spPr>
          <a:xfrm xmlns:a="http://schemas.openxmlformats.org/drawingml/2006/main">
            <a:off x="8096250" y="6334125"/>
            <a:ext cx="3295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575" b="0">
                <a:solidFill>
                  <a:srgbClr val="566054"/>
                </a:solidFill>
                <a:latin typeface="Arial"/>
                <a:ea typeface="Arial"/>
                <a:cs typeface="Arial"/>
              </a:defRPr>
            </a:pPr>
            <a:r>
              <a:rPr sz="1575" b="0">
                <a:solidFill>
                  <a:srgbClr val="566054"/>
                </a:solidFill>
                <a:latin typeface="Arial"/>
                <a:ea typeface="Arial"/>
                <a:cs typeface="Arial"/>
              </a:rPr>
              <a:t>Seeker device capture</a:t>
            </a:r>
          </a:p>
        </p:txBody>
      </p:sp>
    </p:spTree>
    <p:extLst>
      <p:ext uri="{BB962C8B-B14F-4D97-AF65-F5344CB8AC3E}">
        <p14:creationId xmlns:p14="http://schemas.microsoft.com/office/powerpoint/2010/main" val="374705631"/>
      </p:ext>
    </p:extLst>
  </p:cSld>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5F4EE"/>
        </a:solidFill>
      </p:bgPr>
    </p:bg>
    <p:spTree>
      <p:nvGrpSpPr>
        <p:cNvPr id="1" name=""/>
        <p:cNvGrpSpPr/>
        <p:nvPr/>
      </p:nvGrpSpPr>
      <p:grpSpPr>
        <a:xfrm/>
      </p:grpSpPr>
      <p:sp>
        <p:nvSpPr>
          <p:cNvPr id="6" name="Mobile controls">
            <a:extLst>
              <a:ext uri="{FF2B5EF4-FFF2-40B4-BE49-F238E27FC236}">
                <a16:creationId id="{EDD3A466-288E-42AC-83BB-F29CC78292A5}"/>
              </a:ext>
            </a:extLst>
          </p:cNvPr>
          <p:cNvSpPr>
            <a:spLocks noGrp="1"/>
          </p:cNvSpPr>
          <p:nvPr/>
        </p:nvSpPr>
        <p:spPr>
          <a:xfrm>
            <a:off x="609600" y="381000"/>
            <a:ext cx="10972800" cy="876300"/>
          </a:xfrm>
          <a:prstGeom prst="rect">
            <a:avLst/>
          </a:prstGeom>
          <a:noFill/>
          <a:ln w="0">
            <a:noFill/>
          </a:ln>
        </p:spPr>
        <p:txBody>
          <a:bodyPr>
            <a:noAutofit/>
          </a:bodyPr>
          <a:lstStyle/>
          <a:p>
            <a:pPr algn="l">
              <a:defRPr sz="4050" b="1">
                <a:solidFill>
                  <a:srgbClr val="242824"/>
                </a:solidFill>
                <a:latin typeface="Arial"/>
                <a:ea typeface="Arial"/>
                <a:cs typeface="Arial"/>
              </a:defRPr>
            </a:pPr>
            <a:r>
              <a:rPr sz="4050" b="1">
                <a:solidFill>
                  <a:srgbClr val="242824"/>
                </a:solidFill>
                <a:latin typeface="Arial"/>
                <a:ea typeface="Arial"/>
                <a:cs typeface="Arial"/>
              </a:rPr>
              <a:t>Mobile controls</a:t>
            </a:r>
          </a:p>
        </p:txBody>
      </p:sp>
      <p:sp>
        <p:nvSpPr>
          <p:cNvPr id="2" name="Tap to inspect. Enhance, upgrade or">
            <a:extLst>
              <a:ext uri="{FF2B5EF4-FFF2-40B4-BE49-F238E27FC236}">
                <a16:creationId id="{77EA2C07-354C-48C0-BFCC-55FC5E012A95}"/>
              </a:ext>
            </a:extLst>
          </p:cNvPr>
          <p:cNvSpPr>
            <a:spLocks noGrp="1"/>
          </p:cNvSpPr>
          <p:nvPr/>
        </p:nvSpPr>
        <p:spPr>
          <a:xfrm>
            <a:off x="609600" y="1657350"/>
            <a:ext cx="10972800" cy="742950"/>
          </a:xfrm>
          <a:prstGeom prst="rect">
            <a:avLst/>
          </a:prstGeom>
          <a:noFill/>
          <a:ln w="0">
            <a:noFill/>
          </a:ln>
        </p:spPr>
        <p:txBody>
          <a:bodyPr>
            <a:noAutofit/>
          </a:bodyPr>
          <a:lstStyle/>
          <a:p>
            <a:pPr algn="l">
              <a:defRPr sz="2850" b="1">
                <a:solidFill>
                  <a:srgbClr val="B45E49"/>
                </a:solidFill>
                <a:latin typeface="Arial"/>
                <a:ea typeface="Arial"/>
                <a:cs typeface="Arial"/>
              </a:defRPr>
            </a:pPr>
            <a:r>
              <a:rPr sz="2850" b="1">
                <a:solidFill>
                  <a:srgbClr val="B45E49"/>
                </a:solidFill>
                <a:latin typeface="Arial"/>
                <a:ea typeface="Arial"/>
                <a:cs typeface="Arial"/>
              </a:rPr>
              <a:t>Tap to inspect. Enhance, upgrade or sell.</a:t>
            </a:r>
          </a:p>
        </p:txBody>
      </p:sp>
      <p:sp>
        <p:nvSpPr>
          <p:cNvPr id="3" name="Placement, Enhance, pause and speed">
            <a:extLst>
              <a:ext uri="{FF2B5EF4-FFF2-40B4-BE49-F238E27FC236}">
                <a16:creationId id="{7EC2201C-CDE7-4287-9FCB-CE59382CF458}"/>
              </a:ext>
            </a:extLst>
          </p:cNvPr>
          <p:cNvSpPr>
            <a:spLocks noGrp="1"/>
          </p:cNvSpPr>
          <p:nvPr/>
        </p:nvSpPr>
        <p:spPr>
          <a:xfrm>
            <a:off x="609600" y="2581275"/>
            <a:ext cx="10972800" cy="628650"/>
          </a:xfrm>
          <a:prstGeom prst="rect">
            <a:avLst/>
          </a:prstGeom>
          <a:noFill/>
          <a:ln w="0">
            <a:noFill/>
          </a:ln>
        </p:spPr>
        <p:txBody>
          <a:bodyPr>
            <a:noAutofit/>
          </a:bodyPr>
          <a:lstStyle/>
          <a:p>
            <a:pPr algn="l">
              <a:defRPr sz="2025" b="0">
                <a:solidFill>
                  <a:srgbClr val="566054"/>
                </a:solidFill>
                <a:latin typeface="Arial"/>
                <a:ea typeface="Arial"/>
                <a:cs typeface="Arial"/>
              </a:defRPr>
            </a:pPr>
            <a:r>
              <a:rPr sz="2025" b="0">
                <a:solidFill>
                  <a:srgbClr val="566054"/>
                </a:solidFill>
                <a:latin typeface="Arial"/>
                <a:ea typeface="Arial"/>
                <a:cs typeface="Arial"/>
              </a:rPr>
              <a:t>Placement, Enhance, pause and speed controls checked on Seeker.</a:t>
            </a:r>
          </a:p>
        </p:txBody>
      </p:sp>
      <p:pic>
        <p:nvPicPr>
          <p:cNvPr id="9" name=""/>
          <p:cNvPicPr>
            <a:picLocks noChangeAspect="1"/>
          </p:cNvPicPr>
          <p:nvPr/>
        </p:nvPicPr>
        <p:blipFill>
          <a:blip r:embed="R87f893a8a66141c2"/>
          <a:srcRect l="0" t="87701" r="0" b="0"/>
          <a:stretch>
            <a:fillRect l="0" t="0" r="0" b="0"/>
          </a:stretch>
        </p:blipFill>
        <p:spPr>
          <a:xfrm>
            <a:off x="609600" y="3333750"/>
            <a:ext cx="10972800" cy="2800350"/>
          </a:xfrm>
          <a:prstGeom prst="rect">
            <a:avLst/>
          </a:prstGeom>
        </p:spPr>
      </p:pic>
      <p:sp>
        <p:nvSpPr>
          <p:cNvPr id="5" name="Seeker device capture, enlarged tow">
            <a:extLst>
              <a:ext uri="{FF2B5EF4-FFF2-40B4-BE49-F238E27FC236}">
                <a16:creationId id="{424B0E89-21F4-416E-A8CC-843CE1E019DF}"/>
              </a:ext>
            </a:extLst>
          </p:cNvPr>
          <p:cNvSpPr>
            <a:spLocks noGrp="1"/>
          </p:cNvSpPr>
          <p:nvPr/>
        </p:nvSpPr>
        <p:spPr>
          <a:xfrm>
            <a:off x="609600" y="6315075"/>
            <a:ext cx="10972800" cy="285750"/>
          </a:xfrm>
          <a:prstGeom prst="rect">
            <a:avLst/>
          </a:prstGeom>
          <a:noFill/>
          <a:ln w="0">
            <a:noFill/>
          </a:ln>
        </p:spPr>
        <p:txBody>
          <a:bodyPr>
            <a:noAutofit/>
          </a:bodyPr>
          <a:lstStyle/>
          <a:p>
            <a:pPr algn="l">
              <a:defRPr sz="1575" b="0">
                <a:solidFill>
                  <a:srgbClr val="566054"/>
                </a:solidFill>
                <a:latin typeface="Arial"/>
                <a:ea typeface="Arial"/>
                <a:cs typeface="Arial"/>
              </a:defRPr>
            </a:pPr>
            <a:r>
              <a:rPr sz="1575" b="0">
                <a:solidFill>
                  <a:srgbClr val="566054"/>
                </a:solidFill>
                <a:latin typeface="Arial"/>
                <a:ea typeface="Arial"/>
                <a:cs typeface="Arial"/>
              </a:rPr>
              <a:t>Seeker device capture, enlarged tower controls</a:t>
            </a:r>
          </a:p>
        </p:txBody>
      </p:sp>
    </p:spTree>
    <p:extLst>
      <p:ext uri="{BB962C8B-B14F-4D97-AF65-F5344CB8AC3E}">
        <p14:creationId val="602991525"/>
      </p:ext>
    </p:extLst>
  </p:cSld>
</p:sld>
</file>

<file path=ppt/slides/slide7.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0" name="Architecture">
            <a:extLst xmlns:a="http://schemas.openxmlformats.org/drawingml/2006/main">
              <a:ext uri="{FF2B5EF4-FFF2-40B4-BE49-F238E27FC236}">
                <a16:creationId xmlns:a16="http://schemas.microsoft.com/office/drawing/2014/main" id="{D8725326-9BDD-4A78-B20D-3BF596685F9F}"/>
              </a:ext>
            </a:extLst>
          </p:cNvPr>
          <p:cNvSpPr>
            <a:spLocks xmlns:a="http://schemas.openxmlformats.org/drawingml/2006/main" noGrp="1"/>
          </p:cNvSpPr>
          <p:nvPr/>
        </p:nvSpPr>
        <p:spPr>
          <a:xfrm xmlns:a="http://schemas.openxmlformats.org/drawingml/2006/main">
            <a:off x="609600" y="381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42824"/>
                </a:solidFill>
                <a:latin typeface="Arial"/>
                <a:ea typeface="Arial"/>
                <a:cs typeface="Arial"/>
              </a:defRPr>
            </a:pPr>
            <a:r>
              <a:rPr sz="4050" b="1">
                <a:solidFill>
                  <a:srgbClr val="242824"/>
                </a:solidFill>
                <a:latin typeface="Arial"/>
                <a:ea typeface="Arial"/>
                <a:cs typeface="Arial"/>
              </a:rPr>
              <a:t>Architecture</a:t>
            </a:r>
          </a:p>
        </p:txBody>
      </p:sp>
      <p:sp>
        <p:nvSpPr>
          <p:cNvPr id="2" name="React + TypeScript">
            <a:extLst xmlns:a="http://schemas.openxmlformats.org/drawingml/2006/main">
              <a:ext uri="{FF2B5EF4-FFF2-40B4-BE49-F238E27FC236}">
                <a16:creationId xmlns:a16="http://schemas.microsoft.com/office/drawing/2014/main" id="{591761B9-FF12-44AB-A5E0-3A36809C478E}"/>
              </a:ext>
            </a:extLst>
          </p:cNvPr>
          <p:cNvSpPr>
            <a:spLocks xmlns:a="http://schemas.openxmlformats.org/drawingml/2006/main" noGrp="1"/>
          </p:cNvSpPr>
          <p:nvPr/>
        </p:nvSpPr>
        <p:spPr>
          <a:xfrm xmlns:a="http://schemas.openxmlformats.org/drawingml/2006/main">
            <a:off x="609600" y="1743075"/>
            <a:ext cx="5362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B45E49"/>
                </a:solidFill>
                <a:latin typeface="Arial"/>
                <a:ea typeface="Arial"/>
                <a:cs typeface="Arial"/>
              </a:defRPr>
            </a:pPr>
            <a:r>
              <a:rPr sz="3000" b="1">
                <a:solidFill>
                  <a:srgbClr val="B45E49"/>
                </a:solidFill>
                <a:latin typeface="Arial"/>
                <a:ea typeface="Arial"/>
                <a:cs typeface="Arial"/>
              </a:rPr>
              <a:t>React + TypeScript</a:t>
            </a:r>
          </a:p>
        </p:txBody>
      </p:sp>
      <p:sp>
        <p:nvSpPr>
          <p:cNvPr id="3" name="Screens, touch controls&#10;and local p">
            <a:extLst xmlns:a="http://schemas.openxmlformats.org/drawingml/2006/main">
              <a:ext uri="{FF2B5EF4-FFF2-40B4-BE49-F238E27FC236}">
                <a16:creationId xmlns:a16="http://schemas.microsoft.com/office/drawing/2014/main" id="{2DA97301-CE7B-40BE-8F7F-D0084B3B053D}"/>
              </a:ext>
            </a:extLst>
          </p:cNvPr>
          <p:cNvSpPr>
            <a:spLocks xmlns:a="http://schemas.openxmlformats.org/drawingml/2006/main" noGrp="1"/>
          </p:cNvSpPr>
          <p:nvPr/>
        </p:nvSpPr>
        <p:spPr>
          <a:xfrm xmlns:a="http://schemas.openxmlformats.org/drawingml/2006/main">
            <a:off x="609600" y="2667000"/>
            <a:ext cx="53625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242824"/>
                </a:solidFill>
                <a:latin typeface="Arial"/>
                <a:ea typeface="Arial"/>
                <a:cs typeface="Arial"/>
              </a:defRPr>
            </a:pPr>
            <a:r>
              <a:rPr sz="2250" b="0">
                <a:solidFill>
                  <a:srgbClr val="242824"/>
                </a:solidFill>
                <a:latin typeface="Arial"/>
                <a:ea typeface="Arial"/>
                <a:cs typeface="Arial"/>
              </a:rPr>
              <a:t>Screens, touch controls</a:t>
            </a:r>
          </a:p>
          <a:p xmlns:a="http://schemas.openxmlformats.org/drawingml/2006/main">
            <a:pPr algn="l">
              <a:defRPr sz="2250" b="0">
                <a:solidFill>
                  <a:srgbClr val="242824"/>
                </a:solidFill>
                <a:latin typeface="Arial"/>
                <a:ea typeface="Arial"/>
                <a:cs typeface="Arial"/>
              </a:defRPr>
            </a:pPr>
            <a:r>
              <a:rPr sz="2250" b="0">
                <a:solidFill>
                  <a:srgbClr val="242824"/>
                </a:solidFill>
                <a:latin typeface="Arial"/>
                <a:ea typeface="Arial"/>
                <a:cs typeface="Arial"/>
              </a:rPr>
              <a:t>and local player state</a:t>
            </a:r>
          </a:p>
        </p:txBody>
      </p:sp>
      <p:sp>
        <p:nvSpPr>
          <p:cNvPr id="4" name="Canvas simulation">
            <a:extLst xmlns:a="http://schemas.openxmlformats.org/drawingml/2006/main">
              <a:ext uri="{FF2B5EF4-FFF2-40B4-BE49-F238E27FC236}">
                <a16:creationId xmlns:a16="http://schemas.microsoft.com/office/drawing/2014/main" id="{C099ED73-FDA1-44AA-8EB8-DAF0B22DF4AE}"/>
              </a:ext>
            </a:extLst>
          </p:cNvPr>
          <p:cNvSpPr>
            <a:spLocks xmlns:a="http://schemas.openxmlformats.org/drawingml/2006/main" noGrp="1"/>
          </p:cNvSpPr>
          <p:nvPr/>
        </p:nvSpPr>
        <p:spPr>
          <a:xfrm xmlns:a="http://schemas.openxmlformats.org/drawingml/2006/main">
            <a:off x="6648450" y="1743075"/>
            <a:ext cx="4933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B45E49"/>
                </a:solidFill>
                <a:latin typeface="Arial"/>
                <a:ea typeface="Arial"/>
                <a:cs typeface="Arial"/>
              </a:defRPr>
            </a:pPr>
            <a:r>
              <a:rPr sz="3000" b="1">
                <a:solidFill>
                  <a:srgbClr val="B45E49"/>
                </a:solidFill>
                <a:latin typeface="Arial"/>
                <a:ea typeface="Arial"/>
                <a:cs typeface="Arial"/>
              </a:rPr>
              <a:t>Canvas simulation</a:t>
            </a:r>
          </a:p>
        </p:txBody>
      </p:sp>
      <p:sp>
        <p:nvSpPr>
          <p:cNvPr id="5" name="Pathfinding, waves&#10;and automatic to">
            <a:extLst xmlns:a="http://schemas.openxmlformats.org/drawingml/2006/main">
              <a:ext uri="{FF2B5EF4-FFF2-40B4-BE49-F238E27FC236}">
                <a16:creationId xmlns:a16="http://schemas.microsoft.com/office/drawing/2014/main" id="{D4185379-C0A8-4391-BE29-503C17244B1C}"/>
              </a:ext>
            </a:extLst>
          </p:cNvPr>
          <p:cNvSpPr>
            <a:spLocks xmlns:a="http://schemas.openxmlformats.org/drawingml/2006/main" noGrp="1"/>
          </p:cNvSpPr>
          <p:nvPr/>
        </p:nvSpPr>
        <p:spPr>
          <a:xfrm xmlns:a="http://schemas.openxmlformats.org/drawingml/2006/main">
            <a:off x="6648450" y="2667000"/>
            <a:ext cx="49339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242824"/>
                </a:solidFill>
                <a:latin typeface="Arial"/>
                <a:ea typeface="Arial"/>
                <a:cs typeface="Arial"/>
              </a:defRPr>
            </a:pPr>
            <a:r>
              <a:rPr sz="2250" b="0">
                <a:solidFill>
                  <a:srgbClr val="242824"/>
                </a:solidFill>
                <a:latin typeface="Arial"/>
                <a:ea typeface="Arial"/>
                <a:cs typeface="Arial"/>
              </a:rPr>
              <a:t>Pathfinding, waves</a:t>
            </a:r>
          </a:p>
          <a:p xmlns:a="http://schemas.openxmlformats.org/drawingml/2006/main">
            <a:pPr algn="l">
              <a:defRPr sz="2250" b="0">
                <a:solidFill>
                  <a:srgbClr val="242824"/>
                </a:solidFill>
                <a:latin typeface="Arial"/>
                <a:ea typeface="Arial"/>
                <a:cs typeface="Arial"/>
              </a:defRPr>
            </a:pPr>
            <a:r>
              <a:rPr sz="2250" b="0">
                <a:solidFill>
                  <a:srgbClr val="242824"/>
                </a:solidFill>
                <a:latin typeface="Arial"/>
                <a:ea typeface="Arial"/>
                <a:cs typeface="Arial"/>
              </a:rPr>
              <a:t>and automatic tower combat</a:t>
            </a:r>
          </a:p>
        </p:txBody>
      </p:sp>
      <p:sp>
        <p:nvSpPr>
          <p:cNvPr id="6" name="Capacitor Android">
            <a:extLst xmlns:a="http://schemas.openxmlformats.org/drawingml/2006/main">
              <a:ext uri="{FF2B5EF4-FFF2-40B4-BE49-F238E27FC236}">
                <a16:creationId xmlns:a16="http://schemas.microsoft.com/office/drawing/2014/main" id="{F466F5A6-CEAE-40DD-8E51-C2B13FC09DA8}"/>
              </a:ext>
            </a:extLst>
          </p:cNvPr>
          <p:cNvSpPr>
            <a:spLocks xmlns:a="http://schemas.openxmlformats.org/drawingml/2006/main" noGrp="1"/>
          </p:cNvSpPr>
          <p:nvPr/>
        </p:nvSpPr>
        <p:spPr>
          <a:xfrm xmlns:a="http://schemas.openxmlformats.org/drawingml/2006/main">
            <a:off x="609600" y="4305300"/>
            <a:ext cx="53625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657B68"/>
                </a:solidFill>
                <a:latin typeface="Arial"/>
                <a:ea typeface="Arial"/>
                <a:cs typeface="Arial"/>
              </a:defRPr>
            </a:pPr>
            <a:r>
              <a:rPr sz="2850" b="1">
                <a:solidFill>
                  <a:srgbClr val="657B68"/>
                </a:solidFill>
                <a:latin typeface="Arial"/>
                <a:ea typeface="Arial"/>
                <a:cs typeface="Arial"/>
              </a:rPr>
              <a:t>Capacitor Android</a:t>
            </a:r>
          </a:p>
        </p:txBody>
      </p:sp>
      <p:sp>
        <p:nvSpPr>
          <p:cNvPr id="7" name="Vite build packaged as an APK">
            <a:extLst xmlns:a="http://schemas.openxmlformats.org/drawingml/2006/main">
              <a:ext uri="{FF2B5EF4-FFF2-40B4-BE49-F238E27FC236}">
                <a16:creationId xmlns:a16="http://schemas.microsoft.com/office/drawing/2014/main" id="{8520BB0E-3411-4F22-9948-12EB2979FED9}"/>
              </a:ext>
            </a:extLst>
          </p:cNvPr>
          <p:cNvSpPr>
            <a:spLocks xmlns:a="http://schemas.openxmlformats.org/drawingml/2006/main" noGrp="1"/>
          </p:cNvSpPr>
          <p:nvPr/>
        </p:nvSpPr>
        <p:spPr>
          <a:xfrm xmlns:a="http://schemas.openxmlformats.org/drawingml/2006/main">
            <a:off x="609600" y="5181600"/>
            <a:ext cx="53625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42824"/>
                </a:solidFill>
                <a:latin typeface="Arial"/>
                <a:ea typeface="Arial"/>
                <a:cs typeface="Arial"/>
              </a:defRPr>
            </a:pPr>
            <a:r>
              <a:rPr sz="2175" b="0">
                <a:solidFill>
                  <a:srgbClr val="242824"/>
                </a:solidFill>
                <a:latin typeface="Arial"/>
                <a:ea typeface="Arial"/>
                <a:cs typeface="Arial"/>
              </a:rPr>
              <a:t>Vite build packaged as an APK</a:t>
            </a:r>
          </a:p>
        </p:txBody>
      </p:sp>
      <p:sp>
        <p:nvSpPr>
          <p:cNvPr id="8" name="Mobile Wallet Adapter">
            <a:extLst xmlns:a="http://schemas.openxmlformats.org/drawingml/2006/main">
              <a:ext uri="{FF2B5EF4-FFF2-40B4-BE49-F238E27FC236}">
                <a16:creationId xmlns:a16="http://schemas.microsoft.com/office/drawing/2014/main" id="{7E3D50C6-C7EF-4F7A-A751-F6EA8CCA89DD}"/>
              </a:ext>
            </a:extLst>
          </p:cNvPr>
          <p:cNvSpPr>
            <a:spLocks xmlns:a="http://schemas.openxmlformats.org/drawingml/2006/main" noGrp="1"/>
          </p:cNvSpPr>
          <p:nvPr/>
        </p:nvSpPr>
        <p:spPr>
          <a:xfrm xmlns:a="http://schemas.openxmlformats.org/drawingml/2006/main">
            <a:off x="6648450" y="4305300"/>
            <a:ext cx="49339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657B68"/>
                </a:solidFill>
                <a:latin typeface="Arial"/>
                <a:ea typeface="Arial"/>
                <a:cs typeface="Arial"/>
              </a:defRPr>
            </a:pPr>
            <a:r>
              <a:rPr sz="2700" b="1">
                <a:solidFill>
                  <a:srgbClr val="657B68"/>
                </a:solidFill>
                <a:latin typeface="Arial"/>
                <a:ea typeface="Arial"/>
                <a:cs typeface="Arial"/>
              </a:rPr>
              <a:t>Mobile Wallet Adapter</a:t>
            </a:r>
          </a:p>
        </p:txBody>
      </p:sp>
      <p:sp>
        <p:nvSpPr>
          <p:cNvPr id="9" name="Separate wallet authorization path">
            <a:extLst xmlns:a="http://schemas.openxmlformats.org/drawingml/2006/main">
              <a:ext uri="{FF2B5EF4-FFF2-40B4-BE49-F238E27FC236}">
                <a16:creationId xmlns:a16="http://schemas.microsoft.com/office/drawing/2014/main" id="{0F3C7B30-DD4F-47F4-947C-2832BF6485B8}"/>
              </a:ext>
            </a:extLst>
          </p:cNvPr>
          <p:cNvSpPr>
            <a:spLocks xmlns:a="http://schemas.openxmlformats.org/drawingml/2006/main" noGrp="1"/>
          </p:cNvSpPr>
          <p:nvPr/>
        </p:nvSpPr>
        <p:spPr>
          <a:xfrm xmlns:a="http://schemas.openxmlformats.org/drawingml/2006/main">
            <a:off x="6648450" y="5181600"/>
            <a:ext cx="4933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42824"/>
                </a:solidFill>
                <a:latin typeface="Arial"/>
                <a:ea typeface="Arial"/>
                <a:cs typeface="Arial"/>
              </a:defRPr>
            </a:pPr>
            <a:r>
              <a:rPr sz="2175" b="0">
                <a:solidFill>
                  <a:srgbClr val="242824"/>
                </a:solidFill>
                <a:latin typeface="Arial"/>
                <a:ea typeface="Arial"/>
                <a:cs typeface="Arial"/>
              </a:rPr>
              <a:t>Separate wallet authorization path</a:t>
            </a:r>
          </a:p>
        </p:txBody>
      </p:sp>
    </p:spTree>
    <p:extLst>
      <p:ext uri="{BB962C8B-B14F-4D97-AF65-F5344CB8AC3E}">
        <p14:creationId xmlns:p14="http://schemas.microsoft.com/office/powerpoint/2010/main" val="533405780"/>
      </p:ext>
    </p:extLst>
  </p:cSld>
</p:sld>
</file>

<file path=ppt/slides/slide8.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7" name="Solana integration today">
            <a:extLst xmlns:a="http://schemas.openxmlformats.org/drawingml/2006/main">
              <a:ext uri="{FF2B5EF4-FFF2-40B4-BE49-F238E27FC236}">
                <a16:creationId xmlns:a16="http://schemas.microsoft.com/office/drawing/2014/main" id="{47463E27-CA16-43A2-9558-13C09858C2D6}"/>
              </a:ext>
            </a:extLst>
          </p:cNvPr>
          <p:cNvSpPr>
            <a:spLocks xmlns:a="http://schemas.openxmlformats.org/drawingml/2006/main" noGrp="1"/>
          </p:cNvSpPr>
          <p:nvPr/>
        </p:nvSpPr>
        <p:spPr>
          <a:xfrm xmlns:a="http://schemas.openxmlformats.org/drawingml/2006/main">
            <a:off x="609600" y="381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42824"/>
                </a:solidFill>
                <a:latin typeface="Arial"/>
                <a:ea typeface="Arial"/>
                <a:cs typeface="Arial"/>
              </a:defRPr>
            </a:pPr>
            <a:r>
              <a:rPr sz="4050" b="1">
                <a:solidFill>
                  <a:srgbClr val="242824"/>
                </a:solidFill>
                <a:latin typeface="Arial"/>
                <a:ea typeface="Arial"/>
                <a:cs typeface="Arial"/>
              </a:rPr>
              <a:t>Solana integration today</a:t>
            </a:r>
          </a:p>
        </p:txBody>
      </p:sp>
      <p:sp>
        <p:nvSpPr>
          <p:cNvPr id="2" name="Implemented in source">
            <a:extLst xmlns:a="http://schemas.openxmlformats.org/drawingml/2006/main">
              <a:ext uri="{FF2B5EF4-FFF2-40B4-BE49-F238E27FC236}">
                <a16:creationId xmlns:a16="http://schemas.microsoft.com/office/drawing/2014/main" id="{C9B3AD1F-1319-44E3-ABA0-8BAE92B85E25}"/>
              </a:ext>
            </a:extLst>
          </p:cNvPr>
          <p:cNvSpPr>
            <a:spLocks xmlns:a="http://schemas.openxmlformats.org/drawingml/2006/main" noGrp="1"/>
          </p:cNvSpPr>
          <p:nvPr/>
        </p:nvSpPr>
        <p:spPr>
          <a:xfrm xmlns:a="http://schemas.openxmlformats.org/drawingml/2006/main">
            <a:off x="609600" y="1704975"/>
            <a:ext cx="5124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657B68"/>
                </a:solidFill>
                <a:latin typeface="Arial"/>
                <a:ea typeface="Arial"/>
                <a:cs typeface="Arial"/>
              </a:defRPr>
            </a:pPr>
            <a:r>
              <a:rPr sz="2625" b="1">
                <a:solidFill>
                  <a:srgbClr val="657B68"/>
                </a:solidFill>
                <a:latin typeface="Arial"/>
                <a:ea typeface="Arial"/>
                <a:cs typeface="Arial"/>
              </a:rPr>
              <a:t>Implemented in source</a:t>
            </a:r>
          </a:p>
        </p:txBody>
      </p:sp>
      <p:sp>
        <p:nvSpPr>
          <p:cNvPr id="3" name="Android MWA authorization&#10;Desktop w">
            <a:extLst xmlns:a="http://schemas.openxmlformats.org/drawingml/2006/main">
              <a:ext uri="{FF2B5EF4-FFF2-40B4-BE49-F238E27FC236}">
                <a16:creationId xmlns:a16="http://schemas.microsoft.com/office/drawing/2014/main" id="{5A80D052-F249-4DE7-963F-7C39F61F43D8}"/>
              </a:ext>
            </a:extLst>
          </p:cNvPr>
          <p:cNvSpPr>
            <a:spLocks xmlns:a="http://schemas.openxmlformats.org/drawingml/2006/main" noGrp="1"/>
          </p:cNvSpPr>
          <p:nvPr/>
        </p:nvSpPr>
        <p:spPr>
          <a:xfrm xmlns:a="http://schemas.openxmlformats.org/drawingml/2006/main">
            <a:off x="609600" y="2733675"/>
            <a:ext cx="5143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242824"/>
                </a:solidFill>
                <a:latin typeface="Arial"/>
                <a:ea typeface="Arial"/>
                <a:cs typeface="Arial"/>
              </a:defRPr>
            </a:pPr>
            <a:r>
              <a:rPr sz="2550" b="0">
                <a:solidFill>
                  <a:srgbClr val="242824"/>
                </a:solidFill>
                <a:latin typeface="Arial"/>
                <a:ea typeface="Arial"/>
                <a:cs typeface="Arial"/>
              </a:rPr>
              <a:t>Android MWA authorization</a:t>
            </a:r>
          </a:p>
          <a:p xmlns:a="http://schemas.openxmlformats.org/drawingml/2006/main">
            <a:pPr algn="l">
              <a:defRPr sz="2550" b="0">
                <a:solidFill>
                  <a:srgbClr val="242824"/>
                </a:solidFill>
                <a:latin typeface="Arial"/>
                <a:ea typeface="Arial"/>
                <a:cs typeface="Arial"/>
              </a:defRPr>
            </a:pPr>
            <a:r>
              <a:rPr sz="2550" b="0">
                <a:solidFill>
                  <a:srgbClr val="242824"/>
                </a:solidFill>
                <a:latin typeface="Arial"/>
                <a:ea typeface="Arial"/>
                <a:cs typeface="Arial"/>
              </a:rPr>
              <a:t>Desktop wallet fallback</a:t>
            </a:r>
          </a:p>
        </p:txBody>
      </p:sp>
      <p:sp>
        <p:nvSpPr>
          <p:cNvPr id="4" name="Validation still needed">
            <a:extLst xmlns:a="http://schemas.openxmlformats.org/drawingml/2006/main">
              <a:ext uri="{FF2B5EF4-FFF2-40B4-BE49-F238E27FC236}">
                <a16:creationId xmlns:a16="http://schemas.microsoft.com/office/drawing/2014/main" id="{938817D9-743F-45A9-BD29-072BF2B8F3C8}"/>
              </a:ext>
            </a:extLst>
          </p:cNvPr>
          <p:cNvSpPr>
            <a:spLocks xmlns:a="http://schemas.openxmlformats.org/drawingml/2006/main" noGrp="1"/>
          </p:cNvSpPr>
          <p:nvPr/>
        </p:nvSpPr>
        <p:spPr>
          <a:xfrm xmlns:a="http://schemas.openxmlformats.org/drawingml/2006/main">
            <a:off x="6667500" y="1704975"/>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B45E49"/>
                </a:solidFill>
                <a:latin typeface="Arial"/>
                <a:ea typeface="Arial"/>
                <a:cs typeface="Arial"/>
              </a:defRPr>
            </a:pPr>
            <a:r>
              <a:rPr sz="2625" b="1">
                <a:solidFill>
                  <a:srgbClr val="B45E49"/>
                </a:solidFill>
                <a:latin typeface="Arial"/>
                <a:ea typeface="Arial"/>
                <a:cs typeface="Arial"/>
              </a:rPr>
              <a:t>Validation still needed</a:t>
            </a:r>
          </a:p>
        </p:txBody>
      </p:sp>
      <p:sp>
        <p:nvSpPr>
          <p:cNvPr id="5" name="Wallet handoff on Seeker&#10;A demonstr">
            <a:extLst xmlns:a="http://schemas.openxmlformats.org/drawingml/2006/main">
              <a:ext uri="{FF2B5EF4-FFF2-40B4-BE49-F238E27FC236}">
                <a16:creationId xmlns:a16="http://schemas.microsoft.com/office/drawing/2014/main" id="{3E9ABE46-C3E3-48EE-ADEF-18F7DAF195A1}"/>
              </a:ext>
            </a:extLst>
          </p:cNvPr>
          <p:cNvSpPr>
            <a:spLocks xmlns:a="http://schemas.openxmlformats.org/drawingml/2006/main" noGrp="1"/>
          </p:cNvSpPr>
          <p:nvPr/>
        </p:nvSpPr>
        <p:spPr>
          <a:xfrm xmlns:a="http://schemas.openxmlformats.org/drawingml/2006/main">
            <a:off x="6667500" y="2733675"/>
            <a:ext cx="49149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242824"/>
                </a:solidFill>
                <a:latin typeface="Arial"/>
                <a:ea typeface="Arial"/>
                <a:cs typeface="Arial"/>
              </a:defRPr>
            </a:pPr>
            <a:r>
              <a:rPr sz="2550" b="0">
                <a:solidFill>
                  <a:srgbClr val="242824"/>
                </a:solidFill>
                <a:latin typeface="Arial"/>
                <a:ea typeface="Arial"/>
                <a:cs typeface="Arial"/>
              </a:rPr>
              <a:t>Wallet handoff on Seeker</a:t>
            </a:r>
          </a:p>
          <a:p xmlns:a="http://schemas.openxmlformats.org/drawingml/2006/main">
            <a:pPr algn="l">
              <a:defRPr sz="2550" b="0">
                <a:solidFill>
                  <a:srgbClr val="242824"/>
                </a:solidFill>
                <a:latin typeface="Arial"/>
                <a:ea typeface="Arial"/>
                <a:cs typeface="Arial"/>
              </a:defRPr>
            </a:pPr>
            <a:r>
              <a:rPr sz="2550" b="0">
                <a:solidFill>
                  <a:srgbClr val="242824"/>
                </a:solidFill>
                <a:latin typeface="Arial"/>
                <a:ea typeface="Arial"/>
                <a:cs typeface="Arial"/>
              </a:rPr>
              <a:t>A demonstrated Solana flow</a:t>
            </a:r>
          </a:p>
        </p:txBody>
      </p:sp>
      <p:sp>
        <p:nvSpPr>
          <p:cNvPr id="6" name="Local combat stays independent of w">
            <a:extLst xmlns:a="http://schemas.openxmlformats.org/drawingml/2006/main">
              <a:ext uri="{FF2B5EF4-FFF2-40B4-BE49-F238E27FC236}">
                <a16:creationId xmlns:a16="http://schemas.microsoft.com/office/drawing/2014/main" id="{761CD9D7-1DFC-4284-9E65-2841EF190408}"/>
              </a:ext>
            </a:extLst>
          </p:cNvPr>
          <p:cNvSpPr>
            <a:spLocks xmlns:a="http://schemas.openxmlformats.org/drawingml/2006/main" noGrp="1"/>
          </p:cNvSpPr>
          <p:nvPr/>
        </p:nvSpPr>
        <p:spPr>
          <a:xfrm xmlns:a="http://schemas.openxmlformats.org/drawingml/2006/main">
            <a:off x="609600" y="542925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242824"/>
                </a:solidFill>
                <a:latin typeface="Arial"/>
                <a:ea typeface="Arial"/>
                <a:cs typeface="Arial"/>
              </a:defRPr>
            </a:pPr>
            <a:r>
              <a:rPr sz="2400" b="0">
                <a:solidFill>
                  <a:srgbClr val="242824"/>
                </a:solidFill>
                <a:latin typeface="Arial"/>
                <a:ea typeface="Arial"/>
                <a:cs typeface="Arial"/>
              </a:rPr>
              <a:t>Local combat stays independent of wallet transactions.</a:t>
            </a:r>
          </a:p>
        </p:txBody>
      </p:sp>
    </p:spTree>
    <p:extLst>
      <p:ext uri="{BB962C8B-B14F-4D97-AF65-F5344CB8AC3E}">
        <p14:creationId xmlns:p14="http://schemas.microsoft.com/office/powerpoint/2010/main" val="360446802"/>
      </p:ext>
    </p:extLst>
  </p:cSld>
</p:sld>
</file>

<file path=ppt/slides/slide9.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7" name="Current product scope">
            <a:extLst xmlns:a="http://schemas.openxmlformats.org/drawingml/2006/main">
              <a:ext uri="{FF2B5EF4-FFF2-40B4-BE49-F238E27FC236}">
                <a16:creationId xmlns:a16="http://schemas.microsoft.com/office/drawing/2014/main" id="{B8C0CBD7-5134-4752-9D37-D52ED7D8C16C}"/>
              </a:ext>
            </a:extLst>
          </p:cNvPr>
          <p:cNvSpPr>
            <a:spLocks xmlns:a="http://schemas.openxmlformats.org/drawingml/2006/main" noGrp="1"/>
          </p:cNvSpPr>
          <p:nvPr/>
        </p:nvSpPr>
        <p:spPr>
          <a:xfrm xmlns:a="http://schemas.openxmlformats.org/drawingml/2006/main">
            <a:off x="609600" y="381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42824"/>
                </a:solidFill>
                <a:latin typeface="Arial"/>
                <a:ea typeface="Arial"/>
                <a:cs typeface="Arial"/>
              </a:defRPr>
            </a:pPr>
            <a:r>
              <a:rPr sz="4050" b="1">
                <a:solidFill>
                  <a:srgbClr val="242824"/>
                </a:solidFill>
                <a:latin typeface="Arial"/>
                <a:ea typeface="Arial"/>
                <a:cs typeface="Arial"/>
              </a:rPr>
              <a:t>Current product scope</a:t>
            </a:r>
          </a:p>
        </p:txBody>
      </p:sp>
      <p:sp>
        <p:nvSpPr>
          <p:cNvPr id="2" name="Played on Seeker">
            <a:extLst xmlns:a="http://schemas.openxmlformats.org/drawingml/2006/main">
              <a:ext uri="{FF2B5EF4-FFF2-40B4-BE49-F238E27FC236}">
                <a16:creationId xmlns:a16="http://schemas.microsoft.com/office/drawing/2014/main" id="{B2AA68CD-F518-4648-904D-21A4F5EC39A0}"/>
              </a:ext>
            </a:extLst>
          </p:cNvPr>
          <p:cNvSpPr>
            <a:spLocks xmlns:a="http://schemas.openxmlformats.org/drawingml/2006/main" noGrp="1"/>
          </p:cNvSpPr>
          <p:nvPr/>
        </p:nvSpPr>
        <p:spPr>
          <a:xfrm xmlns:a="http://schemas.openxmlformats.org/drawingml/2006/main">
            <a:off x="609600" y="1685925"/>
            <a:ext cx="5124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657B68"/>
                </a:solidFill>
                <a:latin typeface="Arial"/>
                <a:ea typeface="Arial"/>
                <a:cs typeface="Arial"/>
              </a:defRPr>
            </a:pPr>
            <a:r>
              <a:rPr sz="2850" b="1">
                <a:solidFill>
                  <a:srgbClr val="657B68"/>
                </a:solidFill>
                <a:latin typeface="Arial"/>
                <a:ea typeface="Arial"/>
                <a:cs typeface="Arial"/>
              </a:rPr>
              <a:t>Played on Seeker</a:t>
            </a:r>
          </a:p>
        </p:txBody>
      </p:sp>
      <p:sp>
        <p:nvSpPr>
          <p:cNvPr id="3" name="Maze placement&#10;Wave combat&#10;Gold, li">
            <a:extLst xmlns:a="http://schemas.openxmlformats.org/drawingml/2006/main">
              <a:ext uri="{FF2B5EF4-FFF2-40B4-BE49-F238E27FC236}">
                <a16:creationId xmlns:a16="http://schemas.microsoft.com/office/drawing/2014/main" id="{8BCAEF7C-0444-4419-B442-91CA8893DE61}"/>
              </a:ext>
            </a:extLst>
          </p:cNvPr>
          <p:cNvSpPr>
            <a:spLocks xmlns:a="http://schemas.openxmlformats.org/drawingml/2006/main" noGrp="1"/>
          </p:cNvSpPr>
          <p:nvPr/>
        </p:nvSpPr>
        <p:spPr>
          <a:xfrm xmlns:a="http://schemas.openxmlformats.org/drawingml/2006/main">
            <a:off x="609600" y="2724150"/>
            <a:ext cx="5381625"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0">
                <a:solidFill>
                  <a:srgbClr val="242824"/>
                </a:solidFill>
                <a:latin typeface="Arial"/>
                <a:ea typeface="Arial"/>
                <a:cs typeface="Arial"/>
              </a:defRPr>
            </a:pPr>
            <a:r>
              <a:rPr sz="2475" b="0">
                <a:solidFill>
                  <a:srgbClr val="242824"/>
                </a:solidFill>
                <a:latin typeface="Arial"/>
                <a:ea typeface="Arial"/>
                <a:cs typeface="Arial"/>
              </a:rPr>
              <a:t>Maze placement</a:t>
            </a:r>
          </a:p>
          <a:p xmlns:a="http://schemas.openxmlformats.org/drawingml/2006/main">
            <a:pPr algn="l">
              <a:defRPr sz="2475" b="0">
                <a:solidFill>
                  <a:srgbClr val="242824"/>
                </a:solidFill>
                <a:latin typeface="Arial"/>
                <a:ea typeface="Arial"/>
                <a:cs typeface="Arial"/>
              </a:defRPr>
            </a:pPr>
            <a:r>
              <a:rPr sz="2475" b="0">
                <a:solidFill>
                  <a:srgbClr val="242824"/>
                </a:solidFill>
                <a:latin typeface="Arial"/>
                <a:ea typeface="Arial"/>
                <a:cs typeface="Arial"/>
              </a:rPr>
              <a:t>Wave combat</a:t>
            </a:r>
          </a:p>
          <a:p xmlns:a="http://schemas.openxmlformats.org/drawingml/2006/main">
            <a:pPr algn="l">
              <a:defRPr sz="2475" b="0">
                <a:solidFill>
                  <a:srgbClr val="242824"/>
                </a:solidFill>
                <a:latin typeface="Arial"/>
                <a:ea typeface="Arial"/>
                <a:cs typeface="Arial"/>
              </a:defRPr>
            </a:pPr>
            <a:r>
              <a:rPr sz="2475" b="0">
                <a:solidFill>
                  <a:srgbClr val="242824"/>
                </a:solidFill>
                <a:latin typeface="Arial"/>
                <a:ea typeface="Arial"/>
                <a:cs typeface="Arial"/>
              </a:rPr>
              <a:t>Gold, lives and enhancement</a:t>
            </a:r>
          </a:p>
        </p:txBody>
      </p:sp>
      <p:sp>
        <p:nvSpPr>
          <p:cNvPr id="4" name="Planned or unfinished">
            <a:extLst xmlns:a="http://schemas.openxmlformats.org/drawingml/2006/main">
              <a:ext uri="{FF2B5EF4-FFF2-40B4-BE49-F238E27FC236}">
                <a16:creationId xmlns:a16="http://schemas.microsoft.com/office/drawing/2014/main" id="{51BB48AD-2382-4C38-AEE0-08AEB549F025}"/>
              </a:ext>
            </a:extLst>
          </p:cNvPr>
          <p:cNvSpPr>
            <a:spLocks xmlns:a="http://schemas.openxmlformats.org/drawingml/2006/main" noGrp="1"/>
          </p:cNvSpPr>
          <p:nvPr/>
        </p:nvSpPr>
        <p:spPr>
          <a:xfrm xmlns:a="http://schemas.openxmlformats.org/drawingml/2006/main">
            <a:off x="6677025" y="1685925"/>
            <a:ext cx="4905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850" b="1">
                <a:solidFill>
                  <a:srgbClr val="B45E49"/>
                </a:solidFill>
                <a:latin typeface="Arial"/>
                <a:ea typeface="Arial"/>
                <a:cs typeface="Arial"/>
              </a:defRPr>
            </a:pPr>
            <a:r>
              <a:rPr sz="2850" b="1">
                <a:solidFill>
                  <a:srgbClr val="B45E49"/>
                </a:solidFill>
                <a:latin typeface="Arial"/>
                <a:ea typeface="Arial"/>
                <a:cs typeface="Arial"/>
              </a:rPr>
              <a:t>Planned or unfinished</a:t>
            </a:r>
          </a:p>
        </p:txBody>
      </p:sp>
      <p:sp>
        <p:nvSpPr>
          <p:cNvPr id="5" name="Verified online scores&#10;Payments and">
            <a:extLst xmlns:a="http://schemas.openxmlformats.org/drawingml/2006/main">
              <a:ext uri="{FF2B5EF4-FFF2-40B4-BE49-F238E27FC236}">
                <a16:creationId xmlns:a16="http://schemas.microsoft.com/office/drawing/2014/main" id="{19604C41-F5A0-40A2-8869-D436B3794773}"/>
              </a:ext>
            </a:extLst>
          </p:cNvPr>
          <p:cNvSpPr>
            <a:spLocks xmlns:a="http://schemas.openxmlformats.org/drawingml/2006/main" noGrp="1"/>
          </p:cNvSpPr>
          <p:nvPr/>
        </p:nvSpPr>
        <p:spPr>
          <a:xfrm xmlns:a="http://schemas.openxmlformats.org/drawingml/2006/main">
            <a:off x="6677025" y="2724150"/>
            <a:ext cx="4905375"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0">
                <a:solidFill>
                  <a:srgbClr val="242824"/>
                </a:solidFill>
                <a:latin typeface="Arial"/>
                <a:ea typeface="Arial"/>
                <a:cs typeface="Arial"/>
              </a:defRPr>
            </a:pPr>
            <a:r>
              <a:rPr sz="2475" b="0">
                <a:solidFill>
                  <a:srgbClr val="242824"/>
                </a:solidFill>
                <a:latin typeface="Arial"/>
                <a:ea typeface="Arial"/>
                <a:cs typeface="Arial"/>
              </a:rPr>
              <a:t>Verified online scores</a:t>
            </a:r>
          </a:p>
          <a:p xmlns:a="http://schemas.openxmlformats.org/drawingml/2006/main">
            <a:pPr algn="l">
              <a:defRPr sz="2475" b="0">
                <a:solidFill>
                  <a:srgbClr val="242824"/>
                </a:solidFill>
                <a:latin typeface="Arial"/>
                <a:ea typeface="Arial"/>
                <a:cs typeface="Arial"/>
              </a:defRPr>
            </a:pPr>
            <a:r>
              <a:rPr sz="2475" b="0">
                <a:solidFill>
                  <a:srgbClr val="242824"/>
                </a:solidFill>
                <a:latin typeface="Arial"/>
                <a:ea typeface="Arial"/>
                <a:cs typeface="Arial"/>
              </a:rPr>
              <a:t>Payments and payouts</a:t>
            </a:r>
          </a:p>
          <a:p xmlns:a="http://schemas.openxmlformats.org/drawingml/2006/main">
            <a:pPr algn="l">
              <a:defRPr sz="2475" b="0">
                <a:solidFill>
                  <a:srgbClr val="242824"/>
                </a:solidFill>
                <a:latin typeface="Arial"/>
                <a:ea typeface="Arial"/>
                <a:cs typeface="Arial"/>
              </a:defRPr>
            </a:pPr>
            <a:r>
              <a:rPr sz="2475" b="0">
                <a:solidFill>
                  <a:srgbClr val="242824"/>
                </a:solidFill>
                <a:latin typeface="Arial"/>
                <a:ea typeface="Arial"/>
                <a:cs typeface="Arial"/>
              </a:rPr>
              <a:t>Prize pool and store release</a:t>
            </a:r>
          </a:p>
        </p:txBody>
      </p:sp>
      <p:sp>
        <p:nvSpPr>
          <p:cNvPr id="6" name="Payments are disabled. No token or ">
            <a:extLst xmlns:a="http://schemas.openxmlformats.org/drawingml/2006/main">
              <a:ext uri="{FF2B5EF4-FFF2-40B4-BE49-F238E27FC236}">
                <a16:creationId xmlns:a16="http://schemas.microsoft.com/office/drawing/2014/main" id="{D3227C4E-27A8-4D8F-BAAB-B706333FB009}"/>
              </a:ext>
            </a:extLst>
          </p:cNvPr>
          <p:cNvSpPr>
            <a:spLocks xmlns:a="http://schemas.openxmlformats.org/drawingml/2006/main" noGrp="1"/>
          </p:cNvSpPr>
          <p:nvPr/>
        </p:nvSpPr>
        <p:spPr>
          <a:xfrm xmlns:a="http://schemas.openxmlformats.org/drawingml/2006/main">
            <a:off x="609600" y="56483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566054"/>
                </a:solidFill>
                <a:latin typeface="Arial"/>
                <a:ea typeface="Arial"/>
                <a:cs typeface="Arial"/>
              </a:defRPr>
            </a:pPr>
            <a:r>
              <a:rPr sz="2100" b="0">
                <a:solidFill>
                  <a:srgbClr val="566054"/>
                </a:solidFill>
                <a:latin typeface="Arial"/>
                <a:ea typeface="Arial"/>
                <a:cs typeface="Arial"/>
              </a:rPr>
              <a:t>Payments are disabled. No token or cash-out promise.</a:t>
            </a:r>
          </a:p>
        </p:txBody>
      </p:sp>
    </p:spTree>
    <p:extLst>
      <p:ext uri="{BB962C8B-B14F-4D97-AF65-F5344CB8AC3E}">
        <p14:creationId xmlns:p14="http://schemas.microsoft.com/office/powerpoint/2010/main" val="1493419430"/>
      </p:ext>
    </p:extLst>
  </p:cSld>
</p:sld>
</file>

<file path=ppt/slides/slide10.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6" name="The next milestone">
            <a:extLst xmlns:a="http://schemas.openxmlformats.org/drawingml/2006/main">
              <a:ext uri="{FF2B5EF4-FFF2-40B4-BE49-F238E27FC236}">
                <a16:creationId xmlns:a16="http://schemas.microsoft.com/office/drawing/2014/main" id="{D2028252-0908-469B-BCD6-B0291F71C06D}"/>
              </a:ext>
            </a:extLst>
          </p:cNvPr>
          <p:cNvSpPr>
            <a:spLocks xmlns:a="http://schemas.openxmlformats.org/drawingml/2006/main" noGrp="1"/>
          </p:cNvSpPr>
          <p:nvPr/>
        </p:nvSpPr>
        <p:spPr>
          <a:xfrm xmlns:a="http://schemas.openxmlformats.org/drawingml/2006/main">
            <a:off x="609600" y="3810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242824"/>
                </a:solidFill>
                <a:latin typeface="Arial"/>
                <a:ea typeface="Arial"/>
                <a:cs typeface="Arial"/>
              </a:defRPr>
            </a:pPr>
            <a:r>
              <a:rPr sz="4050" b="1">
                <a:solidFill>
                  <a:srgbClr val="242824"/>
                </a:solidFill>
                <a:latin typeface="Arial"/>
                <a:ea typeface="Arial"/>
                <a:cs typeface="Arial"/>
              </a:rPr>
              <a:t>The next milestone</a:t>
            </a:r>
          </a:p>
        </p:txBody>
      </p:sp>
      <p:sp>
        <p:nvSpPr>
          <p:cNvPr id="2" name="A demonstrated Solana flow&#10;and rele">
            <a:extLst xmlns:a="http://schemas.openxmlformats.org/drawingml/2006/main">
              <a:ext uri="{FF2B5EF4-FFF2-40B4-BE49-F238E27FC236}">
                <a16:creationId xmlns:a16="http://schemas.microsoft.com/office/drawing/2014/main" id="{2238F6E8-FD52-447D-9104-F73FDAC46553}"/>
              </a:ext>
            </a:extLst>
          </p:cNvPr>
          <p:cNvSpPr>
            <a:spLocks xmlns:a="http://schemas.openxmlformats.org/drawingml/2006/main" noGrp="1"/>
          </p:cNvSpPr>
          <p:nvPr/>
        </p:nvSpPr>
        <p:spPr>
          <a:xfrm xmlns:a="http://schemas.openxmlformats.org/drawingml/2006/main">
            <a:off x="609600" y="1609725"/>
            <a:ext cx="10439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450" b="1">
                <a:solidFill>
                  <a:srgbClr val="B45E49"/>
                </a:solidFill>
                <a:latin typeface="Arial"/>
                <a:ea typeface="Arial"/>
                <a:cs typeface="Arial"/>
              </a:defRPr>
            </a:pPr>
            <a:r>
              <a:rPr sz="3450" b="1">
                <a:solidFill>
                  <a:srgbClr val="B45E49"/>
                </a:solidFill>
                <a:latin typeface="Arial"/>
                <a:ea typeface="Arial"/>
                <a:cs typeface="Arial"/>
              </a:rPr>
              <a:t>A demonstrated Solana flow</a:t>
            </a:r>
          </a:p>
          <a:p xmlns:a="http://schemas.openxmlformats.org/drawingml/2006/main">
            <a:pPr algn="l">
              <a:defRPr sz="3450" b="1">
                <a:solidFill>
                  <a:srgbClr val="B45E49"/>
                </a:solidFill>
                <a:latin typeface="Arial"/>
                <a:ea typeface="Arial"/>
                <a:cs typeface="Arial"/>
              </a:defRPr>
            </a:pPr>
            <a:r>
              <a:rPr sz="3450" b="1">
                <a:solidFill>
                  <a:srgbClr val="B45E49"/>
                </a:solidFill>
                <a:latin typeface="Arial"/>
                <a:ea typeface="Arial"/>
                <a:cs typeface="Arial"/>
              </a:rPr>
              <a:t>and release acceptance</a:t>
            </a:r>
          </a:p>
        </p:txBody>
      </p:sp>
      <p:sp>
        <p:nvSpPr>
          <p:cNvPr id="3" name="Public source and asset rights revi">
            <a:extLst xmlns:a="http://schemas.openxmlformats.org/drawingml/2006/main">
              <a:ext uri="{FF2B5EF4-FFF2-40B4-BE49-F238E27FC236}">
                <a16:creationId xmlns:a16="http://schemas.microsoft.com/office/drawing/2014/main" id="{6DC7EDDB-D067-46A1-9546-AFBCB56E6A67}"/>
              </a:ext>
            </a:extLst>
          </p:cNvPr>
          <p:cNvSpPr>
            <a:spLocks xmlns:a="http://schemas.openxmlformats.org/drawingml/2006/main" noGrp="1"/>
          </p:cNvSpPr>
          <p:nvPr/>
        </p:nvSpPr>
        <p:spPr>
          <a:xfrm xmlns:a="http://schemas.openxmlformats.org/drawingml/2006/main">
            <a:off x="609600" y="35337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0">
                <a:solidFill>
                  <a:srgbClr val="242824"/>
                </a:solidFill>
                <a:latin typeface="Arial"/>
                <a:ea typeface="Arial"/>
                <a:cs typeface="Arial"/>
              </a:defRPr>
            </a:pPr>
            <a:r>
              <a:rPr sz="2625" b="0">
                <a:solidFill>
                  <a:srgbClr val="242824"/>
                </a:solidFill>
                <a:latin typeface="Arial"/>
                <a:ea typeface="Arial"/>
                <a:cs typeface="Arial"/>
              </a:rPr>
              <a:t>Public source and asset rights review</a:t>
            </a:r>
          </a:p>
        </p:txBody>
      </p:sp>
      <p:sp>
        <p:nvSpPr>
          <p:cNvPr id="4" name="Daniyar Gabdullin&#10;Solo Founder &amp; En">
            <a:extLst xmlns:a="http://schemas.openxmlformats.org/drawingml/2006/main">
              <a:ext uri="{FF2B5EF4-FFF2-40B4-BE49-F238E27FC236}">
                <a16:creationId xmlns:a16="http://schemas.microsoft.com/office/drawing/2014/main" id="{28DD9365-1415-451A-8EFF-8BAE800921E0}"/>
              </a:ext>
            </a:extLst>
          </p:cNvPr>
          <p:cNvSpPr>
            <a:spLocks xmlns:a="http://schemas.openxmlformats.org/drawingml/2006/main" noGrp="1"/>
          </p:cNvSpPr>
          <p:nvPr/>
        </p:nvSpPr>
        <p:spPr>
          <a:xfrm xmlns:a="http://schemas.openxmlformats.org/drawingml/2006/main">
            <a:off x="609600" y="5019675"/>
            <a:ext cx="714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42824"/>
                </a:solidFill>
                <a:latin typeface="Arial"/>
                <a:ea typeface="Arial"/>
                <a:cs typeface="Arial"/>
              </a:defRPr>
            </a:pPr>
            <a:r>
              <a:rPr sz="2400" b="1">
                <a:solidFill>
                  <a:srgbClr val="242824"/>
                </a:solidFill>
                <a:latin typeface="Arial"/>
                <a:ea typeface="Arial"/>
                <a:cs typeface="Arial"/>
              </a:rPr>
              <a:t>Daniyar Gabdullin</a:t>
            </a:r>
          </a:p>
          <a:p xmlns:a="http://schemas.openxmlformats.org/drawingml/2006/main">
            <a:pPr algn="l">
              <a:defRPr sz="2400" b="1">
                <a:solidFill>
                  <a:srgbClr val="242824"/>
                </a:solidFill>
                <a:latin typeface="Arial"/>
                <a:ea typeface="Arial"/>
                <a:cs typeface="Arial"/>
              </a:defRPr>
            </a:pPr>
            <a:r>
              <a:rPr sz="2400" b="1">
                <a:solidFill>
                  <a:srgbClr val="242824"/>
                </a:solidFill>
                <a:latin typeface="Arial"/>
                <a:ea typeface="Arial"/>
                <a:cs typeface="Arial"/>
              </a:rPr>
              <a:t>Solo Founder &amp; Engineer</a:t>
            </a:r>
          </a:p>
        </p:txBody>
      </p:sp>
      <p:sp>
        <p:nvSpPr>
          <p:cNvPr id="5" name="portfolio.whoim.space">
            <a:extLst xmlns:a="http://schemas.openxmlformats.org/drawingml/2006/main">
              <a:ext uri="{FF2B5EF4-FFF2-40B4-BE49-F238E27FC236}">
                <a16:creationId xmlns:a16="http://schemas.microsoft.com/office/drawing/2014/main" id="{7D2BB08B-6EB0-43D8-8A8D-3D3EFA4E40AC}"/>
              </a:ext>
            </a:extLst>
          </p:cNvPr>
          <p:cNvSpPr>
            <a:spLocks xmlns:a="http://schemas.openxmlformats.org/drawingml/2006/main" noGrp="1"/>
          </p:cNvSpPr>
          <p:nvPr/>
        </p:nvSpPr>
        <p:spPr>
          <a:xfrm xmlns:a="http://schemas.openxmlformats.org/drawingml/2006/main">
            <a:off x="8115300" y="5686425"/>
            <a:ext cx="346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657B68"/>
                </a:solidFill>
                <a:latin typeface="Arial"/>
                <a:ea typeface="Arial"/>
                <a:cs typeface="Arial"/>
              </a:defRPr>
            </a:pPr>
            <a:r>
              <a:rPr sz="1875" b="0">
                <a:solidFill>
                  <a:srgbClr val="657B68"/>
                </a:solidFill>
                <a:latin typeface="Arial"/>
                <a:ea typeface="Arial"/>
                <a:cs typeface="Arial"/>
              </a:rPr>
              <a:t>portfolio.whoim.space</a:t>
            </a:r>
          </a:p>
        </p:txBody>
      </p:sp>
    </p:spTree>
    <p:extLst>
      <p:ext uri="{BB962C8B-B14F-4D97-AF65-F5344CB8AC3E}">
        <p14:creationId xmlns:p14="http://schemas.microsoft.com/office/powerpoint/2010/main" val="772039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2026-10-05T14:48:04.8910000Z</dcterms:created>
  <dcterms:modified xsi:type="dcterms:W3CDTF">2026-10-05T14:48:04.8910000Z</dcterms:modified>
</coreProperties>
</file>